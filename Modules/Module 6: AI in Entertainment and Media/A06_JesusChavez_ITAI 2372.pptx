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99230E-7186-47FB-8003-2AAF95ACD4B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DB61EC7-26CF-402C-B28A-DFA96DD5A492}">
      <dgm:prSet/>
      <dgm:spPr/>
      <dgm:t>
        <a:bodyPr/>
        <a:lstStyle/>
        <a:p>
          <a:pPr>
            <a:defRPr cap="all"/>
          </a:pPr>
          <a:r>
            <a:rPr lang="en-US" b="1"/>
            <a:t>Organization:</a:t>
          </a:r>
          <a:r>
            <a:rPr lang="en-US"/>
            <a:t> Mayo Clinic Platform (MCP).</a:t>
          </a:r>
        </a:p>
      </dgm:t>
    </dgm:pt>
    <dgm:pt modelId="{B50090DF-310A-4804-B514-23BED0D2A5C0}" type="parTrans" cxnId="{C90B44F3-5567-4506-A935-C81638E4A0C0}">
      <dgm:prSet/>
      <dgm:spPr/>
      <dgm:t>
        <a:bodyPr/>
        <a:lstStyle/>
        <a:p>
          <a:endParaRPr lang="en-US"/>
        </a:p>
      </dgm:t>
    </dgm:pt>
    <dgm:pt modelId="{D86BDD1B-B091-4E36-A6A4-1C4EF97FAFE8}" type="sibTrans" cxnId="{C90B44F3-5567-4506-A935-C81638E4A0C0}">
      <dgm:prSet/>
      <dgm:spPr/>
      <dgm:t>
        <a:bodyPr/>
        <a:lstStyle/>
        <a:p>
          <a:endParaRPr lang="en-US"/>
        </a:p>
      </dgm:t>
    </dgm:pt>
    <dgm:pt modelId="{F760A662-493A-4C08-A181-DD636526B20A}">
      <dgm:prSet/>
      <dgm:spPr/>
      <dgm:t>
        <a:bodyPr/>
        <a:lstStyle/>
        <a:p>
          <a:pPr>
            <a:defRPr cap="all"/>
          </a:pPr>
          <a:r>
            <a:rPr lang="en-US"/>
            <a:t>Mayo has transitioned from a hospital system to a “Global AI Ecosystem.”</a:t>
          </a:r>
        </a:p>
      </dgm:t>
    </dgm:pt>
    <dgm:pt modelId="{00134D3C-038A-4D30-92EA-07B802011C4C}" type="parTrans" cxnId="{1DF3025D-7BE0-438E-8DE6-EBE16B1CA9DE}">
      <dgm:prSet/>
      <dgm:spPr/>
      <dgm:t>
        <a:bodyPr/>
        <a:lstStyle/>
        <a:p>
          <a:endParaRPr lang="en-US"/>
        </a:p>
      </dgm:t>
    </dgm:pt>
    <dgm:pt modelId="{9664D75C-DDEB-4CB0-B3FB-229F66AA2634}" type="sibTrans" cxnId="{1DF3025D-7BE0-438E-8DE6-EBE16B1CA9DE}">
      <dgm:prSet/>
      <dgm:spPr/>
      <dgm:t>
        <a:bodyPr/>
        <a:lstStyle/>
        <a:p>
          <a:endParaRPr lang="en-US"/>
        </a:p>
      </dgm:t>
    </dgm:pt>
    <dgm:pt modelId="{D8829D19-74EB-4EA7-BA1B-A5CD495F721F}">
      <dgm:prSet/>
      <dgm:spPr/>
      <dgm:t>
        <a:bodyPr/>
        <a:lstStyle/>
        <a:p>
          <a:pPr>
            <a:defRPr cap="all"/>
          </a:pPr>
          <a:r>
            <a:rPr lang="en-US"/>
            <a:t>Recently announced a strategic R&amp;D collaboration with Merck to use multimodal AI for drug discovery.</a:t>
          </a:r>
        </a:p>
      </dgm:t>
    </dgm:pt>
    <dgm:pt modelId="{052D241B-7441-43B1-A3C7-F7F289EA27AE}" type="parTrans" cxnId="{2E1BF4BE-1157-48AC-8430-5DB1D357EC93}">
      <dgm:prSet/>
      <dgm:spPr/>
      <dgm:t>
        <a:bodyPr/>
        <a:lstStyle/>
        <a:p>
          <a:endParaRPr lang="en-US"/>
        </a:p>
      </dgm:t>
    </dgm:pt>
    <dgm:pt modelId="{2FDAA01F-8058-4CD3-8F14-4AD9B34AA8B4}" type="sibTrans" cxnId="{2E1BF4BE-1157-48AC-8430-5DB1D357EC93}">
      <dgm:prSet/>
      <dgm:spPr/>
      <dgm:t>
        <a:bodyPr/>
        <a:lstStyle/>
        <a:p>
          <a:endParaRPr lang="en-US"/>
        </a:p>
      </dgm:t>
    </dgm:pt>
    <dgm:pt modelId="{5DEBAA03-1B70-4FE6-90C9-76B6931A1165}" type="pres">
      <dgm:prSet presAssocID="{0F99230E-7186-47FB-8003-2AAF95ACD4B9}" presName="root" presStyleCnt="0">
        <dgm:presLayoutVars>
          <dgm:dir/>
          <dgm:resizeHandles val="exact"/>
        </dgm:presLayoutVars>
      </dgm:prSet>
      <dgm:spPr/>
    </dgm:pt>
    <dgm:pt modelId="{62990675-4A95-4135-B055-8201F45366EB}" type="pres">
      <dgm:prSet presAssocID="{7DB61EC7-26CF-402C-B28A-DFA96DD5A492}" presName="compNode" presStyleCnt="0"/>
      <dgm:spPr/>
    </dgm:pt>
    <dgm:pt modelId="{F39E140A-01E3-40E4-A08C-BC11C8A049EC}" type="pres">
      <dgm:prSet presAssocID="{7DB61EC7-26CF-402C-B28A-DFA96DD5A492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2784982-1D34-44F0-968A-EA85AA2541D4}" type="pres">
      <dgm:prSet presAssocID="{7DB61EC7-26CF-402C-B28A-DFA96DD5A49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A3DBAC0-C02D-4C27-B22C-0F1ED9C9CA3D}" type="pres">
      <dgm:prSet presAssocID="{7DB61EC7-26CF-402C-B28A-DFA96DD5A492}" presName="spaceRect" presStyleCnt="0"/>
      <dgm:spPr/>
    </dgm:pt>
    <dgm:pt modelId="{54E161EC-79CA-455D-8044-C21C84EC184E}" type="pres">
      <dgm:prSet presAssocID="{7DB61EC7-26CF-402C-B28A-DFA96DD5A492}" presName="textRect" presStyleLbl="revTx" presStyleIdx="0" presStyleCnt="3">
        <dgm:presLayoutVars>
          <dgm:chMax val="1"/>
          <dgm:chPref val="1"/>
        </dgm:presLayoutVars>
      </dgm:prSet>
      <dgm:spPr/>
    </dgm:pt>
    <dgm:pt modelId="{F40F352F-23A9-4F20-A793-2AAA41CD6B50}" type="pres">
      <dgm:prSet presAssocID="{D86BDD1B-B091-4E36-A6A4-1C4EF97FAFE8}" presName="sibTrans" presStyleCnt="0"/>
      <dgm:spPr/>
    </dgm:pt>
    <dgm:pt modelId="{D4AE0ED1-4366-4A1F-BEE1-CEDACB3D1D9D}" type="pres">
      <dgm:prSet presAssocID="{F760A662-493A-4C08-A181-DD636526B20A}" presName="compNode" presStyleCnt="0"/>
      <dgm:spPr/>
    </dgm:pt>
    <dgm:pt modelId="{DCCF906C-DD19-40B5-A8B9-1D5674552148}" type="pres">
      <dgm:prSet presAssocID="{F760A662-493A-4C08-A181-DD636526B20A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AA067C92-0CF3-411C-B2CA-A7725E2DA7D4}" type="pres">
      <dgm:prSet presAssocID="{F760A662-493A-4C08-A181-DD636526B2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3A09C7D-7D64-44F8-B0C4-D4D418DDB411}" type="pres">
      <dgm:prSet presAssocID="{F760A662-493A-4C08-A181-DD636526B20A}" presName="spaceRect" presStyleCnt="0"/>
      <dgm:spPr/>
    </dgm:pt>
    <dgm:pt modelId="{58C360B3-C90A-4230-8EE4-8AF092DA26FD}" type="pres">
      <dgm:prSet presAssocID="{F760A662-493A-4C08-A181-DD636526B20A}" presName="textRect" presStyleLbl="revTx" presStyleIdx="1" presStyleCnt="3">
        <dgm:presLayoutVars>
          <dgm:chMax val="1"/>
          <dgm:chPref val="1"/>
        </dgm:presLayoutVars>
      </dgm:prSet>
      <dgm:spPr/>
    </dgm:pt>
    <dgm:pt modelId="{96C48B26-2A10-4B82-8261-C3D32727837A}" type="pres">
      <dgm:prSet presAssocID="{9664D75C-DDEB-4CB0-B3FB-229F66AA2634}" presName="sibTrans" presStyleCnt="0"/>
      <dgm:spPr/>
    </dgm:pt>
    <dgm:pt modelId="{FBCA6CA2-4B54-406C-A338-5B7DD2E77800}" type="pres">
      <dgm:prSet presAssocID="{D8829D19-74EB-4EA7-BA1B-A5CD495F721F}" presName="compNode" presStyleCnt="0"/>
      <dgm:spPr/>
    </dgm:pt>
    <dgm:pt modelId="{BB38E9B4-FB7D-4B19-A60E-F123CAD1BDDE}" type="pres">
      <dgm:prSet presAssocID="{D8829D19-74EB-4EA7-BA1B-A5CD495F721F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9CD7255-D64A-4724-A088-F50A7682C490}" type="pres">
      <dgm:prSet presAssocID="{D8829D19-74EB-4EA7-BA1B-A5CD495F721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480BBAB4-BBC9-4AF0-9531-572F126979E6}" type="pres">
      <dgm:prSet presAssocID="{D8829D19-74EB-4EA7-BA1B-A5CD495F721F}" presName="spaceRect" presStyleCnt="0"/>
      <dgm:spPr/>
    </dgm:pt>
    <dgm:pt modelId="{9EB967D7-BB8B-4888-A67C-BF917B75C475}" type="pres">
      <dgm:prSet presAssocID="{D8829D19-74EB-4EA7-BA1B-A5CD495F721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EB5FA0B-0AD7-4351-991C-493767280448}" type="presOf" srcId="{7DB61EC7-26CF-402C-B28A-DFA96DD5A492}" destId="{54E161EC-79CA-455D-8044-C21C84EC184E}" srcOrd="0" destOrd="0" presId="urn:microsoft.com/office/officeart/2018/5/layout/IconLeafLabelList"/>
    <dgm:cxn modelId="{3047683C-79A0-4CFF-A3C8-B3FB19F92D28}" type="presOf" srcId="{F760A662-493A-4C08-A181-DD636526B20A}" destId="{58C360B3-C90A-4230-8EE4-8AF092DA26FD}" srcOrd="0" destOrd="0" presId="urn:microsoft.com/office/officeart/2018/5/layout/IconLeafLabelList"/>
    <dgm:cxn modelId="{1DF3025D-7BE0-438E-8DE6-EBE16B1CA9DE}" srcId="{0F99230E-7186-47FB-8003-2AAF95ACD4B9}" destId="{F760A662-493A-4C08-A181-DD636526B20A}" srcOrd="1" destOrd="0" parTransId="{00134D3C-038A-4D30-92EA-07B802011C4C}" sibTransId="{9664D75C-DDEB-4CB0-B3FB-229F66AA2634}"/>
    <dgm:cxn modelId="{8A7C054F-0DCA-45EB-808B-500B0B0C466D}" type="presOf" srcId="{0F99230E-7186-47FB-8003-2AAF95ACD4B9}" destId="{5DEBAA03-1B70-4FE6-90C9-76B6931A1165}" srcOrd="0" destOrd="0" presId="urn:microsoft.com/office/officeart/2018/5/layout/IconLeafLabelList"/>
    <dgm:cxn modelId="{23CE9487-FC49-4CF2-90BD-53B4A975C030}" type="presOf" srcId="{D8829D19-74EB-4EA7-BA1B-A5CD495F721F}" destId="{9EB967D7-BB8B-4888-A67C-BF917B75C475}" srcOrd="0" destOrd="0" presId="urn:microsoft.com/office/officeart/2018/5/layout/IconLeafLabelList"/>
    <dgm:cxn modelId="{2E1BF4BE-1157-48AC-8430-5DB1D357EC93}" srcId="{0F99230E-7186-47FB-8003-2AAF95ACD4B9}" destId="{D8829D19-74EB-4EA7-BA1B-A5CD495F721F}" srcOrd="2" destOrd="0" parTransId="{052D241B-7441-43B1-A3C7-F7F289EA27AE}" sibTransId="{2FDAA01F-8058-4CD3-8F14-4AD9B34AA8B4}"/>
    <dgm:cxn modelId="{C90B44F3-5567-4506-A935-C81638E4A0C0}" srcId="{0F99230E-7186-47FB-8003-2AAF95ACD4B9}" destId="{7DB61EC7-26CF-402C-B28A-DFA96DD5A492}" srcOrd="0" destOrd="0" parTransId="{B50090DF-310A-4804-B514-23BED0D2A5C0}" sibTransId="{D86BDD1B-B091-4E36-A6A4-1C4EF97FAFE8}"/>
    <dgm:cxn modelId="{AFE63F35-76E3-4773-A733-6CB3056173F4}" type="presParOf" srcId="{5DEBAA03-1B70-4FE6-90C9-76B6931A1165}" destId="{62990675-4A95-4135-B055-8201F45366EB}" srcOrd="0" destOrd="0" presId="urn:microsoft.com/office/officeart/2018/5/layout/IconLeafLabelList"/>
    <dgm:cxn modelId="{037F4BC8-0E5C-4B88-A592-DBDF4484ED0D}" type="presParOf" srcId="{62990675-4A95-4135-B055-8201F45366EB}" destId="{F39E140A-01E3-40E4-A08C-BC11C8A049EC}" srcOrd="0" destOrd="0" presId="urn:microsoft.com/office/officeart/2018/5/layout/IconLeafLabelList"/>
    <dgm:cxn modelId="{05C257D4-98FB-4C8E-AAEB-8301E47694B3}" type="presParOf" srcId="{62990675-4A95-4135-B055-8201F45366EB}" destId="{52784982-1D34-44F0-968A-EA85AA2541D4}" srcOrd="1" destOrd="0" presId="urn:microsoft.com/office/officeart/2018/5/layout/IconLeafLabelList"/>
    <dgm:cxn modelId="{DA763D5D-1281-4E87-97EC-AFFEC80A654D}" type="presParOf" srcId="{62990675-4A95-4135-B055-8201F45366EB}" destId="{7A3DBAC0-C02D-4C27-B22C-0F1ED9C9CA3D}" srcOrd="2" destOrd="0" presId="urn:microsoft.com/office/officeart/2018/5/layout/IconLeafLabelList"/>
    <dgm:cxn modelId="{5D7F616A-8B42-476C-8C14-78A83B6CC2D7}" type="presParOf" srcId="{62990675-4A95-4135-B055-8201F45366EB}" destId="{54E161EC-79CA-455D-8044-C21C84EC184E}" srcOrd="3" destOrd="0" presId="urn:microsoft.com/office/officeart/2018/5/layout/IconLeafLabelList"/>
    <dgm:cxn modelId="{D25E56B8-82D5-4139-9A1C-962377A4DA1F}" type="presParOf" srcId="{5DEBAA03-1B70-4FE6-90C9-76B6931A1165}" destId="{F40F352F-23A9-4F20-A793-2AAA41CD6B50}" srcOrd="1" destOrd="0" presId="urn:microsoft.com/office/officeart/2018/5/layout/IconLeafLabelList"/>
    <dgm:cxn modelId="{3B091E81-99E6-4D51-B1D1-0D345B8E533E}" type="presParOf" srcId="{5DEBAA03-1B70-4FE6-90C9-76B6931A1165}" destId="{D4AE0ED1-4366-4A1F-BEE1-CEDACB3D1D9D}" srcOrd="2" destOrd="0" presId="urn:microsoft.com/office/officeart/2018/5/layout/IconLeafLabelList"/>
    <dgm:cxn modelId="{4BBC378C-AEF9-4492-99DF-A128B5A4F67E}" type="presParOf" srcId="{D4AE0ED1-4366-4A1F-BEE1-CEDACB3D1D9D}" destId="{DCCF906C-DD19-40B5-A8B9-1D5674552148}" srcOrd="0" destOrd="0" presId="urn:microsoft.com/office/officeart/2018/5/layout/IconLeafLabelList"/>
    <dgm:cxn modelId="{517E9764-A0AD-4927-9CAB-B60280C7F7B1}" type="presParOf" srcId="{D4AE0ED1-4366-4A1F-BEE1-CEDACB3D1D9D}" destId="{AA067C92-0CF3-411C-B2CA-A7725E2DA7D4}" srcOrd="1" destOrd="0" presId="urn:microsoft.com/office/officeart/2018/5/layout/IconLeafLabelList"/>
    <dgm:cxn modelId="{DA07BFED-EB5D-4433-916F-625ACC17C344}" type="presParOf" srcId="{D4AE0ED1-4366-4A1F-BEE1-CEDACB3D1D9D}" destId="{D3A09C7D-7D64-44F8-B0C4-D4D418DDB411}" srcOrd="2" destOrd="0" presId="urn:microsoft.com/office/officeart/2018/5/layout/IconLeafLabelList"/>
    <dgm:cxn modelId="{F42A0C43-6AD0-4AEB-B468-709A7D4F0525}" type="presParOf" srcId="{D4AE0ED1-4366-4A1F-BEE1-CEDACB3D1D9D}" destId="{58C360B3-C90A-4230-8EE4-8AF092DA26FD}" srcOrd="3" destOrd="0" presId="urn:microsoft.com/office/officeart/2018/5/layout/IconLeafLabelList"/>
    <dgm:cxn modelId="{40F3AC81-5EC7-4391-B3F8-65936B68BAF9}" type="presParOf" srcId="{5DEBAA03-1B70-4FE6-90C9-76B6931A1165}" destId="{96C48B26-2A10-4B82-8261-C3D32727837A}" srcOrd="3" destOrd="0" presId="urn:microsoft.com/office/officeart/2018/5/layout/IconLeafLabelList"/>
    <dgm:cxn modelId="{1FB4D9AC-F3C6-4E9A-BAD9-ED14690635A6}" type="presParOf" srcId="{5DEBAA03-1B70-4FE6-90C9-76B6931A1165}" destId="{FBCA6CA2-4B54-406C-A338-5B7DD2E77800}" srcOrd="4" destOrd="0" presId="urn:microsoft.com/office/officeart/2018/5/layout/IconLeafLabelList"/>
    <dgm:cxn modelId="{861252A2-7663-49D1-8881-D24AF60DBB77}" type="presParOf" srcId="{FBCA6CA2-4B54-406C-A338-5B7DD2E77800}" destId="{BB38E9B4-FB7D-4B19-A60E-F123CAD1BDDE}" srcOrd="0" destOrd="0" presId="urn:microsoft.com/office/officeart/2018/5/layout/IconLeafLabelList"/>
    <dgm:cxn modelId="{30A22AAA-BA8E-43EF-8847-AA63D5602F94}" type="presParOf" srcId="{FBCA6CA2-4B54-406C-A338-5B7DD2E77800}" destId="{09CD7255-D64A-4724-A088-F50A7682C490}" srcOrd="1" destOrd="0" presId="urn:microsoft.com/office/officeart/2018/5/layout/IconLeafLabelList"/>
    <dgm:cxn modelId="{000BA4B3-3E48-4FDD-80A3-CBB591DBCE7C}" type="presParOf" srcId="{FBCA6CA2-4B54-406C-A338-5B7DD2E77800}" destId="{480BBAB4-BBC9-4AF0-9531-572F126979E6}" srcOrd="2" destOrd="0" presId="urn:microsoft.com/office/officeart/2018/5/layout/IconLeafLabelList"/>
    <dgm:cxn modelId="{95398567-BD7A-4C90-AA8B-0C60FF4C172B}" type="presParOf" srcId="{FBCA6CA2-4B54-406C-A338-5B7DD2E77800}" destId="{9EB967D7-BB8B-4888-A67C-BF917B75C475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2BA764-1BFF-4183-A974-5069288F3E5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7B9F11-F999-4134-92B2-51F48C5AEA19}">
      <dgm:prSet/>
      <dgm:spPr/>
      <dgm:t>
        <a:bodyPr/>
        <a:lstStyle/>
        <a:p>
          <a:r>
            <a:rPr lang="en-US" b="1"/>
            <a:t>Multimodal Foundation Models:</a:t>
          </a:r>
          <a:r>
            <a:rPr lang="en-US"/>
            <a:t> AI that simultaneously processes genomics, pathology slides, and unstructured clinical notes.</a:t>
          </a:r>
        </a:p>
      </dgm:t>
    </dgm:pt>
    <dgm:pt modelId="{9E08C26F-D0BF-4A1F-95F9-3D8803BF6F23}" type="parTrans" cxnId="{15281053-59E5-4296-95AA-451A03667C0D}">
      <dgm:prSet/>
      <dgm:spPr/>
      <dgm:t>
        <a:bodyPr/>
        <a:lstStyle/>
        <a:p>
          <a:endParaRPr lang="en-US"/>
        </a:p>
      </dgm:t>
    </dgm:pt>
    <dgm:pt modelId="{B023C27B-8ACC-4A26-8EA6-A85732F2054A}" type="sibTrans" cxnId="{15281053-59E5-4296-95AA-451A03667C0D}">
      <dgm:prSet/>
      <dgm:spPr/>
      <dgm:t>
        <a:bodyPr/>
        <a:lstStyle/>
        <a:p>
          <a:endParaRPr lang="en-US"/>
        </a:p>
      </dgm:t>
    </dgm:pt>
    <dgm:pt modelId="{EE2D8AEB-7F8B-407E-AC6E-6B7DB3B12B70}">
      <dgm:prSet/>
      <dgm:spPr/>
      <dgm:t>
        <a:bodyPr/>
        <a:lstStyle/>
        <a:p>
          <a:r>
            <a:rPr lang="en-US" b="1"/>
            <a:t>Agentic AI:</a:t>
          </a:r>
          <a:r>
            <a:rPr lang="en-US"/>
            <a:t> Unlike traditional AI, these "agents" can execute multi-step workflows—such as autonomously identifying a high-risk patient, drafting a referral, and flagging evidence gaps for regulatory submissions.</a:t>
          </a:r>
        </a:p>
      </dgm:t>
    </dgm:pt>
    <dgm:pt modelId="{ED8025C1-AF7C-4ED8-B296-54AD15A76BCE}" type="parTrans" cxnId="{9FB70644-833E-4134-B026-EAC034A90D36}">
      <dgm:prSet/>
      <dgm:spPr/>
      <dgm:t>
        <a:bodyPr/>
        <a:lstStyle/>
        <a:p>
          <a:endParaRPr lang="en-US"/>
        </a:p>
      </dgm:t>
    </dgm:pt>
    <dgm:pt modelId="{CBC74BE5-5E36-44F4-822E-5922468CA4F2}" type="sibTrans" cxnId="{9FB70644-833E-4134-B026-EAC034A90D36}">
      <dgm:prSet/>
      <dgm:spPr/>
      <dgm:t>
        <a:bodyPr/>
        <a:lstStyle/>
        <a:p>
          <a:endParaRPr lang="en-US"/>
        </a:p>
      </dgm:t>
    </dgm:pt>
    <dgm:pt modelId="{5494502E-6BA5-4158-B2DD-1CF88D7BAFCB}">
      <dgm:prSet/>
      <dgm:spPr/>
      <dgm:t>
        <a:bodyPr/>
        <a:lstStyle/>
        <a:p>
          <a:r>
            <a:rPr lang="en-US" b="1"/>
            <a:t>Virtual Cell Technologies:</a:t>
          </a:r>
          <a:r>
            <a:rPr lang="en-US"/>
            <a:t> Computer-based models that simulate cellular behavior to predict drug efficacy before human trials.</a:t>
          </a:r>
        </a:p>
      </dgm:t>
    </dgm:pt>
    <dgm:pt modelId="{58E8D052-FA89-4763-B628-F4F5F61867AD}" type="parTrans" cxnId="{9C4B2EA9-111B-4DDA-9E56-A272CE09E543}">
      <dgm:prSet/>
      <dgm:spPr/>
      <dgm:t>
        <a:bodyPr/>
        <a:lstStyle/>
        <a:p>
          <a:endParaRPr lang="en-US"/>
        </a:p>
      </dgm:t>
    </dgm:pt>
    <dgm:pt modelId="{E80888CE-67FD-4A11-8D81-2095BC7B5E79}" type="sibTrans" cxnId="{9C4B2EA9-111B-4DDA-9E56-A272CE09E543}">
      <dgm:prSet/>
      <dgm:spPr/>
      <dgm:t>
        <a:bodyPr/>
        <a:lstStyle/>
        <a:p>
          <a:endParaRPr lang="en-US"/>
        </a:p>
      </dgm:t>
    </dgm:pt>
    <dgm:pt modelId="{C64FAD30-8433-489D-990A-CAC34B12D05E}" type="pres">
      <dgm:prSet presAssocID="{512BA764-1BFF-4183-A974-5069288F3E57}" presName="linear" presStyleCnt="0">
        <dgm:presLayoutVars>
          <dgm:animLvl val="lvl"/>
          <dgm:resizeHandles val="exact"/>
        </dgm:presLayoutVars>
      </dgm:prSet>
      <dgm:spPr/>
    </dgm:pt>
    <dgm:pt modelId="{D7AB88AB-454F-45AC-835D-C6D6BED79FE6}" type="pres">
      <dgm:prSet presAssocID="{767B9F11-F999-4134-92B2-51F48C5AEA1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2CCFA13-D2F1-48C1-A511-E34334648576}" type="pres">
      <dgm:prSet presAssocID="{B023C27B-8ACC-4A26-8EA6-A85732F2054A}" presName="spacer" presStyleCnt="0"/>
      <dgm:spPr/>
    </dgm:pt>
    <dgm:pt modelId="{CAF3EF33-BF52-4BD1-A4B5-D1DE0734FAC3}" type="pres">
      <dgm:prSet presAssocID="{EE2D8AEB-7F8B-407E-AC6E-6B7DB3B12B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44B895E-9940-40F9-9745-21F646FDF0FF}" type="pres">
      <dgm:prSet presAssocID="{CBC74BE5-5E36-44F4-822E-5922468CA4F2}" presName="spacer" presStyleCnt="0"/>
      <dgm:spPr/>
    </dgm:pt>
    <dgm:pt modelId="{4AF0DD01-6AA3-45A2-B72A-9CD841797801}" type="pres">
      <dgm:prSet presAssocID="{5494502E-6BA5-4158-B2DD-1CF88D7BAFC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BAB9903-3532-47A9-9060-1583C1A94B6F}" type="presOf" srcId="{EE2D8AEB-7F8B-407E-AC6E-6B7DB3B12B70}" destId="{CAF3EF33-BF52-4BD1-A4B5-D1DE0734FAC3}" srcOrd="0" destOrd="0" presId="urn:microsoft.com/office/officeart/2005/8/layout/vList2"/>
    <dgm:cxn modelId="{9FB70644-833E-4134-B026-EAC034A90D36}" srcId="{512BA764-1BFF-4183-A974-5069288F3E57}" destId="{EE2D8AEB-7F8B-407E-AC6E-6B7DB3B12B70}" srcOrd="1" destOrd="0" parTransId="{ED8025C1-AF7C-4ED8-B296-54AD15A76BCE}" sibTransId="{CBC74BE5-5E36-44F4-822E-5922468CA4F2}"/>
    <dgm:cxn modelId="{15281053-59E5-4296-95AA-451A03667C0D}" srcId="{512BA764-1BFF-4183-A974-5069288F3E57}" destId="{767B9F11-F999-4134-92B2-51F48C5AEA19}" srcOrd="0" destOrd="0" parTransId="{9E08C26F-D0BF-4A1F-95F9-3D8803BF6F23}" sibTransId="{B023C27B-8ACC-4A26-8EA6-A85732F2054A}"/>
    <dgm:cxn modelId="{CB0D8F8C-EBCC-43C8-8698-AE3C0F34F181}" type="presOf" srcId="{5494502E-6BA5-4158-B2DD-1CF88D7BAFCB}" destId="{4AF0DD01-6AA3-45A2-B72A-9CD841797801}" srcOrd="0" destOrd="0" presId="urn:microsoft.com/office/officeart/2005/8/layout/vList2"/>
    <dgm:cxn modelId="{9C4B2EA9-111B-4DDA-9E56-A272CE09E543}" srcId="{512BA764-1BFF-4183-A974-5069288F3E57}" destId="{5494502E-6BA5-4158-B2DD-1CF88D7BAFCB}" srcOrd="2" destOrd="0" parTransId="{58E8D052-FA89-4763-B628-F4F5F61867AD}" sibTransId="{E80888CE-67FD-4A11-8D81-2095BC7B5E79}"/>
    <dgm:cxn modelId="{8E8844D2-CE3D-453A-9324-4239CB5CE791}" type="presOf" srcId="{767B9F11-F999-4134-92B2-51F48C5AEA19}" destId="{D7AB88AB-454F-45AC-835D-C6D6BED79FE6}" srcOrd="0" destOrd="0" presId="urn:microsoft.com/office/officeart/2005/8/layout/vList2"/>
    <dgm:cxn modelId="{4A5F4EDE-2B9C-4B01-A9F8-5A1EF471CD43}" type="presOf" srcId="{512BA764-1BFF-4183-A974-5069288F3E57}" destId="{C64FAD30-8433-489D-990A-CAC34B12D05E}" srcOrd="0" destOrd="0" presId="urn:microsoft.com/office/officeart/2005/8/layout/vList2"/>
    <dgm:cxn modelId="{09CF842A-7C81-4A2F-95AE-F56A13573E7A}" type="presParOf" srcId="{C64FAD30-8433-489D-990A-CAC34B12D05E}" destId="{D7AB88AB-454F-45AC-835D-C6D6BED79FE6}" srcOrd="0" destOrd="0" presId="urn:microsoft.com/office/officeart/2005/8/layout/vList2"/>
    <dgm:cxn modelId="{930AE873-92F7-48C8-85D3-F536A5AC5EBE}" type="presParOf" srcId="{C64FAD30-8433-489D-990A-CAC34B12D05E}" destId="{C2CCFA13-D2F1-48C1-A511-E34334648576}" srcOrd="1" destOrd="0" presId="urn:microsoft.com/office/officeart/2005/8/layout/vList2"/>
    <dgm:cxn modelId="{48937B1E-2026-4EBF-8ADD-40C910266872}" type="presParOf" srcId="{C64FAD30-8433-489D-990A-CAC34B12D05E}" destId="{CAF3EF33-BF52-4BD1-A4B5-D1DE0734FAC3}" srcOrd="2" destOrd="0" presId="urn:microsoft.com/office/officeart/2005/8/layout/vList2"/>
    <dgm:cxn modelId="{E900B5AF-74B2-4ABE-8D30-62E5BE14E1B3}" type="presParOf" srcId="{C64FAD30-8433-489D-990A-CAC34B12D05E}" destId="{B44B895E-9940-40F9-9745-21F646FDF0FF}" srcOrd="3" destOrd="0" presId="urn:microsoft.com/office/officeart/2005/8/layout/vList2"/>
    <dgm:cxn modelId="{1700C6CA-838B-4C64-83B4-65CA207E529E}" type="presParOf" srcId="{C64FAD30-8433-489D-990A-CAC34B12D05E}" destId="{4AF0DD01-6AA3-45A2-B72A-9CD84179780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504D58-C8BD-4751-885E-18D7175764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099484-2CE8-42E2-9914-F3606B2EA533}">
      <dgm:prSet/>
      <dgm:spPr/>
      <dgm:t>
        <a:bodyPr/>
        <a:lstStyle/>
        <a:p>
          <a:r>
            <a:rPr lang="en-US" b="1"/>
            <a:t>Data Behind Glass: </a:t>
          </a:r>
          <a:r>
            <a:rPr lang="en-US"/>
            <a:t>A privacy-preserving environment where external partners access de-identified data without the data ever leaving Mayo’s secure cloud.</a:t>
          </a:r>
        </a:p>
      </dgm:t>
    </dgm:pt>
    <dgm:pt modelId="{5800D2F6-AB7D-45FB-A4D4-EAFEC061AE7C}" type="parTrans" cxnId="{8F1E5883-DD6C-48F2-9DDD-9950A30F0C4A}">
      <dgm:prSet/>
      <dgm:spPr/>
      <dgm:t>
        <a:bodyPr/>
        <a:lstStyle/>
        <a:p>
          <a:endParaRPr lang="en-US"/>
        </a:p>
      </dgm:t>
    </dgm:pt>
    <dgm:pt modelId="{D955680D-45BC-4B5C-86C3-139C66C85FE9}" type="sibTrans" cxnId="{8F1E5883-DD6C-48F2-9DDD-9950A30F0C4A}">
      <dgm:prSet/>
      <dgm:spPr/>
      <dgm:t>
        <a:bodyPr/>
        <a:lstStyle/>
        <a:p>
          <a:endParaRPr lang="en-US"/>
        </a:p>
      </dgm:t>
    </dgm:pt>
    <dgm:pt modelId="{2FF4D1A7-6DE6-4C56-BC18-DE0B3CCBC39D}">
      <dgm:prSet/>
      <dgm:spPr/>
      <dgm:t>
        <a:bodyPr/>
        <a:lstStyle/>
        <a:p>
          <a:r>
            <a:rPr lang="en-US" b="1"/>
            <a:t>Ambient Clinical Listening: </a:t>
          </a:r>
          <a:r>
            <a:rPr lang="en-US"/>
            <a:t>Implementation of AI that listens to patient encounters, auto-populates EHRs to reduce clinical burnout by 40%.</a:t>
          </a:r>
        </a:p>
      </dgm:t>
    </dgm:pt>
    <dgm:pt modelId="{EB737628-CBA7-4439-B7BE-17933FF8FC8A}" type="parTrans" cxnId="{73A81E46-D33B-4956-B9CD-5EEEB01167F8}">
      <dgm:prSet/>
      <dgm:spPr/>
      <dgm:t>
        <a:bodyPr/>
        <a:lstStyle/>
        <a:p>
          <a:endParaRPr lang="en-US"/>
        </a:p>
      </dgm:t>
    </dgm:pt>
    <dgm:pt modelId="{3A07EB0B-757A-4FA7-A77E-8C0502E101F0}" type="sibTrans" cxnId="{73A81E46-D33B-4956-B9CD-5EEEB01167F8}">
      <dgm:prSet/>
      <dgm:spPr/>
      <dgm:t>
        <a:bodyPr/>
        <a:lstStyle/>
        <a:p>
          <a:endParaRPr lang="en-US"/>
        </a:p>
      </dgm:t>
    </dgm:pt>
    <dgm:pt modelId="{22B966E9-77ED-4A89-B270-25D209B0DDF4}">
      <dgm:prSet/>
      <dgm:spPr/>
      <dgm:t>
        <a:bodyPr/>
        <a:lstStyle/>
        <a:p>
          <a:r>
            <a:rPr lang="en-US" b="1"/>
            <a:t>Solution Orchestrator:</a:t>
          </a:r>
          <a:r>
            <a:rPr lang="en-US"/>
            <a:t> Deploying qualified AI models instantly across its global network of 70+ partner hospitals.</a:t>
          </a:r>
        </a:p>
      </dgm:t>
    </dgm:pt>
    <dgm:pt modelId="{2C2AFA9F-883E-422B-8B95-D7BD3A8DFF1A}" type="parTrans" cxnId="{DD76FE09-C045-4B03-8649-5AF2ED09BC78}">
      <dgm:prSet/>
      <dgm:spPr/>
      <dgm:t>
        <a:bodyPr/>
        <a:lstStyle/>
        <a:p>
          <a:endParaRPr lang="en-US"/>
        </a:p>
      </dgm:t>
    </dgm:pt>
    <dgm:pt modelId="{9EE05BCB-5EBD-4F4F-B394-72049703C887}" type="sibTrans" cxnId="{DD76FE09-C045-4B03-8649-5AF2ED09BC78}">
      <dgm:prSet/>
      <dgm:spPr/>
      <dgm:t>
        <a:bodyPr/>
        <a:lstStyle/>
        <a:p>
          <a:endParaRPr lang="en-US"/>
        </a:p>
      </dgm:t>
    </dgm:pt>
    <dgm:pt modelId="{410A1ACF-8950-4230-BC96-006C14724653}" type="pres">
      <dgm:prSet presAssocID="{6D504D58-C8BD-4751-885E-18D7175764D0}" presName="linear" presStyleCnt="0">
        <dgm:presLayoutVars>
          <dgm:animLvl val="lvl"/>
          <dgm:resizeHandles val="exact"/>
        </dgm:presLayoutVars>
      </dgm:prSet>
      <dgm:spPr/>
    </dgm:pt>
    <dgm:pt modelId="{C735B257-96D5-4A6B-8FBA-C86A5BF51F10}" type="pres">
      <dgm:prSet presAssocID="{60099484-2CE8-42E2-9914-F3606B2EA5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FE036DF-55C2-4966-AA2B-8CAE16EB35CB}" type="pres">
      <dgm:prSet presAssocID="{D955680D-45BC-4B5C-86C3-139C66C85FE9}" presName="spacer" presStyleCnt="0"/>
      <dgm:spPr/>
    </dgm:pt>
    <dgm:pt modelId="{3BDB05FA-D65A-4EA6-A573-2A0C1E102691}" type="pres">
      <dgm:prSet presAssocID="{2FF4D1A7-6DE6-4C56-BC18-DE0B3CCBC39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25FE464-F892-4D15-ABEF-76A0C1EAC006}" type="pres">
      <dgm:prSet presAssocID="{3A07EB0B-757A-4FA7-A77E-8C0502E101F0}" presName="spacer" presStyleCnt="0"/>
      <dgm:spPr/>
    </dgm:pt>
    <dgm:pt modelId="{504119CC-17AA-4070-9670-B5016A9DE410}" type="pres">
      <dgm:prSet presAssocID="{22B966E9-77ED-4A89-B270-25D209B0DDF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D76FE09-C045-4B03-8649-5AF2ED09BC78}" srcId="{6D504D58-C8BD-4751-885E-18D7175764D0}" destId="{22B966E9-77ED-4A89-B270-25D209B0DDF4}" srcOrd="2" destOrd="0" parTransId="{2C2AFA9F-883E-422B-8B95-D7BD3A8DFF1A}" sibTransId="{9EE05BCB-5EBD-4F4F-B394-72049703C887}"/>
    <dgm:cxn modelId="{73A81E46-D33B-4956-B9CD-5EEEB01167F8}" srcId="{6D504D58-C8BD-4751-885E-18D7175764D0}" destId="{2FF4D1A7-6DE6-4C56-BC18-DE0B3CCBC39D}" srcOrd="1" destOrd="0" parTransId="{EB737628-CBA7-4439-B7BE-17933FF8FC8A}" sibTransId="{3A07EB0B-757A-4FA7-A77E-8C0502E101F0}"/>
    <dgm:cxn modelId="{C0C1E158-9CF0-489A-AF31-33DCE0E18FB4}" type="presOf" srcId="{6D504D58-C8BD-4751-885E-18D7175764D0}" destId="{410A1ACF-8950-4230-BC96-006C14724653}" srcOrd="0" destOrd="0" presId="urn:microsoft.com/office/officeart/2005/8/layout/vList2"/>
    <dgm:cxn modelId="{8F1E5883-DD6C-48F2-9DDD-9950A30F0C4A}" srcId="{6D504D58-C8BD-4751-885E-18D7175764D0}" destId="{60099484-2CE8-42E2-9914-F3606B2EA533}" srcOrd="0" destOrd="0" parTransId="{5800D2F6-AB7D-45FB-A4D4-EAFEC061AE7C}" sibTransId="{D955680D-45BC-4B5C-86C3-139C66C85FE9}"/>
    <dgm:cxn modelId="{4C94478E-8B30-44E6-9C93-51437F22FE8A}" type="presOf" srcId="{22B966E9-77ED-4A89-B270-25D209B0DDF4}" destId="{504119CC-17AA-4070-9670-B5016A9DE410}" srcOrd="0" destOrd="0" presId="urn:microsoft.com/office/officeart/2005/8/layout/vList2"/>
    <dgm:cxn modelId="{C18ACDC0-1719-415D-B2F8-113DEB0E83CA}" type="presOf" srcId="{2FF4D1A7-6DE6-4C56-BC18-DE0B3CCBC39D}" destId="{3BDB05FA-D65A-4EA6-A573-2A0C1E102691}" srcOrd="0" destOrd="0" presId="urn:microsoft.com/office/officeart/2005/8/layout/vList2"/>
    <dgm:cxn modelId="{410152F7-9DBC-4004-BD34-54BAACDB2D71}" type="presOf" srcId="{60099484-2CE8-42E2-9914-F3606B2EA533}" destId="{C735B257-96D5-4A6B-8FBA-C86A5BF51F10}" srcOrd="0" destOrd="0" presId="urn:microsoft.com/office/officeart/2005/8/layout/vList2"/>
    <dgm:cxn modelId="{24AF580E-EA7F-40DC-B504-0E62CFD8E661}" type="presParOf" srcId="{410A1ACF-8950-4230-BC96-006C14724653}" destId="{C735B257-96D5-4A6B-8FBA-C86A5BF51F10}" srcOrd="0" destOrd="0" presId="urn:microsoft.com/office/officeart/2005/8/layout/vList2"/>
    <dgm:cxn modelId="{227B0832-CDD2-492F-886B-FBB14CA04FFC}" type="presParOf" srcId="{410A1ACF-8950-4230-BC96-006C14724653}" destId="{EFE036DF-55C2-4966-AA2B-8CAE16EB35CB}" srcOrd="1" destOrd="0" presId="urn:microsoft.com/office/officeart/2005/8/layout/vList2"/>
    <dgm:cxn modelId="{7E00D991-4379-400C-B36B-0278C86C8D40}" type="presParOf" srcId="{410A1ACF-8950-4230-BC96-006C14724653}" destId="{3BDB05FA-D65A-4EA6-A573-2A0C1E102691}" srcOrd="2" destOrd="0" presId="urn:microsoft.com/office/officeart/2005/8/layout/vList2"/>
    <dgm:cxn modelId="{0025A0B2-6BD3-44DF-B7B1-EDC2262BB544}" type="presParOf" srcId="{410A1ACF-8950-4230-BC96-006C14724653}" destId="{925FE464-F892-4D15-ABEF-76A0C1EAC006}" srcOrd="3" destOrd="0" presId="urn:microsoft.com/office/officeart/2005/8/layout/vList2"/>
    <dgm:cxn modelId="{377D70D4-A202-4640-83FC-B08F63CAFF55}" type="presParOf" srcId="{410A1ACF-8950-4230-BC96-006C14724653}" destId="{504119CC-17AA-4070-9670-B5016A9DE41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A2FC00-504A-4F29-82ED-EA479F28089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4FA1C3-331B-4C10-B4B6-2AA80CFB9520}">
      <dgm:prSet/>
      <dgm:spPr/>
      <dgm:t>
        <a:bodyPr/>
        <a:lstStyle/>
        <a:p>
          <a:r>
            <a:rPr lang="en-US" b="1"/>
            <a:t>Disease Interception: </a:t>
          </a:r>
          <a:r>
            <a:rPr lang="en-US"/>
            <a:t>AI now identifies risks for pancreatic cancer and heart failure up to 5 years before symptoms appear.</a:t>
          </a:r>
        </a:p>
      </dgm:t>
    </dgm:pt>
    <dgm:pt modelId="{D8BEA46E-35BB-4559-9719-4C81348B35E7}" type="parTrans" cxnId="{8E81D1B6-0DE0-41D8-8062-AE058400EA10}">
      <dgm:prSet/>
      <dgm:spPr/>
      <dgm:t>
        <a:bodyPr/>
        <a:lstStyle/>
        <a:p>
          <a:endParaRPr lang="en-US"/>
        </a:p>
      </dgm:t>
    </dgm:pt>
    <dgm:pt modelId="{8306D93E-8F35-4984-8EF4-675235C32F90}" type="sibTrans" cxnId="{8E81D1B6-0DE0-41D8-8062-AE058400EA10}">
      <dgm:prSet/>
      <dgm:spPr/>
      <dgm:t>
        <a:bodyPr/>
        <a:lstStyle/>
        <a:p>
          <a:endParaRPr lang="en-US"/>
        </a:p>
      </dgm:t>
    </dgm:pt>
    <dgm:pt modelId="{B9DD02E0-09C9-43FA-8610-781D4BFCD239}">
      <dgm:prSet/>
      <dgm:spPr/>
      <dgm:t>
        <a:bodyPr/>
        <a:lstStyle/>
        <a:p>
          <a:r>
            <a:rPr lang="en-US" b="1"/>
            <a:t>Drug Discovery: </a:t>
          </a:r>
          <a:r>
            <a:rPr lang="en-US"/>
            <a:t>The Merck partnership aims to accelerate treatment for multiple sclerosis and inflammatory bowel disease by identifying biologically defined patient subgroups.</a:t>
          </a:r>
        </a:p>
      </dgm:t>
    </dgm:pt>
    <dgm:pt modelId="{E1CA187B-B1F7-48BF-B297-EDC08D7C1BE9}" type="parTrans" cxnId="{1D535E40-EB06-45F2-8F49-0FABB4BC38A3}">
      <dgm:prSet/>
      <dgm:spPr/>
      <dgm:t>
        <a:bodyPr/>
        <a:lstStyle/>
        <a:p>
          <a:endParaRPr lang="en-US"/>
        </a:p>
      </dgm:t>
    </dgm:pt>
    <dgm:pt modelId="{C38D3150-A1AD-45F6-B868-4EC4E26E9B1B}" type="sibTrans" cxnId="{1D535E40-EB06-45F2-8F49-0FABB4BC38A3}">
      <dgm:prSet/>
      <dgm:spPr/>
      <dgm:t>
        <a:bodyPr/>
        <a:lstStyle/>
        <a:p>
          <a:endParaRPr lang="en-US"/>
        </a:p>
      </dgm:t>
    </dgm:pt>
    <dgm:pt modelId="{4E08E0C3-9310-4271-B6D8-ABA65B46C137}">
      <dgm:prSet/>
      <dgm:spPr/>
      <dgm:t>
        <a:bodyPr/>
        <a:lstStyle/>
        <a:p>
          <a:r>
            <a:rPr lang="en-US" b="1"/>
            <a:t>Storke Care: </a:t>
          </a:r>
          <a:r>
            <a:rPr lang="en-US"/>
            <a:t>Real-world data from the connected network has expanded life-saving stroke protocols to rural Missouri and international sites like Bazil and Israel.</a:t>
          </a:r>
        </a:p>
      </dgm:t>
    </dgm:pt>
    <dgm:pt modelId="{B3F394AA-3699-4BBF-B210-1893710B9D3B}" type="parTrans" cxnId="{26007889-48AA-46DF-988E-2DBDBA39FDBA}">
      <dgm:prSet/>
      <dgm:spPr/>
      <dgm:t>
        <a:bodyPr/>
        <a:lstStyle/>
        <a:p>
          <a:endParaRPr lang="en-US"/>
        </a:p>
      </dgm:t>
    </dgm:pt>
    <dgm:pt modelId="{AA97B498-8DF5-461C-8449-2520081A415E}" type="sibTrans" cxnId="{26007889-48AA-46DF-988E-2DBDBA39FDBA}">
      <dgm:prSet/>
      <dgm:spPr/>
      <dgm:t>
        <a:bodyPr/>
        <a:lstStyle/>
        <a:p>
          <a:endParaRPr lang="en-US"/>
        </a:p>
      </dgm:t>
    </dgm:pt>
    <dgm:pt modelId="{DAB98FD0-9525-4318-86E8-99759941653D}" type="pres">
      <dgm:prSet presAssocID="{03A2FC00-504A-4F29-82ED-EA479F280892}" presName="linear" presStyleCnt="0">
        <dgm:presLayoutVars>
          <dgm:animLvl val="lvl"/>
          <dgm:resizeHandles val="exact"/>
        </dgm:presLayoutVars>
      </dgm:prSet>
      <dgm:spPr/>
    </dgm:pt>
    <dgm:pt modelId="{03FD8B7D-9363-494A-A207-43F7C7CC4FFD}" type="pres">
      <dgm:prSet presAssocID="{7D4FA1C3-331B-4C10-B4B6-2AA80CFB952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EBA6BAC-5A14-44CD-B387-B6C888B6EABC}" type="pres">
      <dgm:prSet presAssocID="{8306D93E-8F35-4984-8EF4-675235C32F90}" presName="spacer" presStyleCnt="0"/>
      <dgm:spPr/>
    </dgm:pt>
    <dgm:pt modelId="{A3FCCAD4-BFBC-4048-8234-9DEFE3747615}" type="pres">
      <dgm:prSet presAssocID="{B9DD02E0-09C9-43FA-8610-781D4BFCD23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F2873F8-D281-45A0-9A70-72ABA7EF30C2}" type="pres">
      <dgm:prSet presAssocID="{C38D3150-A1AD-45F6-B868-4EC4E26E9B1B}" presName="spacer" presStyleCnt="0"/>
      <dgm:spPr/>
    </dgm:pt>
    <dgm:pt modelId="{56A79E55-AA90-41BC-802C-CAD0307CDA38}" type="pres">
      <dgm:prSet presAssocID="{4E08E0C3-9310-4271-B6D8-ABA65B46C13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70CD131-5437-4259-B03B-CF422C02D671}" type="presOf" srcId="{4E08E0C3-9310-4271-B6D8-ABA65B46C137}" destId="{56A79E55-AA90-41BC-802C-CAD0307CDA38}" srcOrd="0" destOrd="0" presId="urn:microsoft.com/office/officeart/2005/8/layout/vList2"/>
    <dgm:cxn modelId="{1D535E40-EB06-45F2-8F49-0FABB4BC38A3}" srcId="{03A2FC00-504A-4F29-82ED-EA479F280892}" destId="{B9DD02E0-09C9-43FA-8610-781D4BFCD239}" srcOrd="1" destOrd="0" parTransId="{E1CA187B-B1F7-48BF-B297-EDC08D7C1BE9}" sibTransId="{C38D3150-A1AD-45F6-B868-4EC4E26E9B1B}"/>
    <dgm:cxn modelId="{65F1DB42-779B-4DC1-B44C-ACD9C94AF5E7}" type="presOf" srcId="{7D4FA1C3-331B-4C10-B4B6-2AA80CFB9520}" destId="{03FD8B7D-9363-494A-A207-43F7C7CC4FFD}" srcOrd="0" destOrd="0" presId="urn:microsoft.com/office/officeart/2005/8/layout/vList2"/>
    <dgm:cxn modelId="{26007889-48AA-46DF-988E-2DBDBA39FDBA}" srcId="{03A2FC00-504A-4F29-82ED-EA479F280892}" destId="{4E08E0C3-9310-4271-B6D8-ABA65B46C137}" srcOrd="2" destOrd="0" parTransId="{B3F394AA-3699-4BBF-B210-1893710B9D3B}" sibTransId="{AA97B498-8DF5-461C-8449-2520081A415E}"/>
    <dgm:cxn modelId="{8E81D1B6-0DE0-41D8-8062-AE058400EA10}" srcId="{03A2FC00-504A-4F29-82ED-EA479F280892}" destId="{7D4FA1C3-331B-4C10-B4B6-2AA80CFB9520}" srcOrd="0" destOrd="0" parTransId="{D8BEA46E-35BB-4559-9719-4C81348B35E7}" sibTransId="{8306D93E-8F35-4984-8EF4-675235C32F90}"/>
    <dgm:cxn modelId="{1CEBB5C2-5961-4065-95DD-E51FC0415F0F}" type="presOf" srcId="{03A2FC00-504A-4F29-82ED-EA479F280892}" destId="{DAB98FD0-9525-4318-86E8-99759941653D}" srcOrd="0" destOrd="0" presId="urn:microsoft.com/office/officeart/2005/8/layout/vList2"/>
    <dgm:cxn modelId="{D15780FB-DEEA-488F-A60D-58C13CAF226E}" type="presOf" srcId="{B9DD02E0-09C9-43FA-8610-781D4BFCD239}" destId="{A3FCCAD4-BFBC-4048-8234-9DEFE3747615}" srcOrd="0" destOrd="0" presId="urn:microsoft.com/office/officeart/2005/8/layout/vList2"/>
    <dgm:cxn modelId="{551ABF5A-B2C9-4944-A22C-18AA92B8C94D}" type="presParOf" srcId="{DAB98FD0-9525-4318-86E8-99759941653D}" destId="{03FD8B7D-9363-494A-A207-43F7C7CC4FFD}" srcOrd="0" destOrd="0" presId="urn:microsoft.com/office/officeart/2005/8/layout/vList2"/>
    <dgm:cxn modelId="{FA648BC6-DFB5-4A12-BE11-264FBEE5165D}" type="presParOf" srcId="{DAB98FD0-9525-4318-86E8-99759941653D}" destId="{CEBA6BAC-5A14-44CD-B387-B6C888B6EABC}" srcOrd="1" destOrd="0" presId="urn:microsoft.com/office/officeart/2005/8/layout/vList2"/>
    <dgm:cxn modelId="{6A3F45A6-47D8-443C-876B-BC056A1C6368}" type="presParOf" srcId="{DAB98FD0-9525-4318-86E8-99759941653D}" destId="{A3FCCAD4-BFBC-4048-8234-9DEFE3747615}" srcOrd="2" destOrd="0" presId="urn:microsoft.com/office/officeart/2005/8/layout/vList2"/>
    <dgm:cxn modelId="{2114C2FD-A05C-4569-8949-7A40B34CB808}" type="presParOf" srcId="{DAB98FD0-9525-4318-86E8-99759941653D}" destId="{DF2873F8-D281-45A0-9A70-72ABA7EF30C2}" srcOrd="3" destOrd="0" presId="urn:microsoft.com/office/officeart/2005/8/layout/vList2"/>
    <dgm:cxn modelId="{8D55163A-97B9-4891-ADBA-88D34298BA79}" type="presParOf" srcId="{DAB98FD0-9525-4318-86E8-99759941653D}" destId="{56A79E55-AA90-41BC-802C-CAD0307CDA3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00624BF-6E28-4F71-A164-E02AD43466E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4ED6965-25F6-45E1-AE12-9D7839600C9F}">
      <dgm:prSet/>
      <dgm:spPr/>
      <dgm:t>
        <a:bodyPr/>
        <a:lstStyle/>
        <a:p>
          <a:r>
            <a:rPr lang="en-US" b="1"/>
            <a:t>Algorithmic Hallucinations: </a:t>
          </a:r>
          <a:r>
            <a:rPr lang="en-US"/>
            <a:t>LLMs sometimes fabricate medical citations, requiring a strict verification process.</a:t>
          </a:r>
        </a:p>
      </dgm:t>
    </dgm:pt>
    <dgm:pt modelId="{301A9F6F-8AB9-4ADA-9812-A29BA57959F3}" type="parTrans" cxnId="{642919C4-1391-4220-B6DA-953A5E59FB22}">
      <dgm:prSet/>
      <dgm:spPr/>
      <dgm:t>
        <a:bodyPr/>
        <a:lstStyle/>
        <a:p>
          <a:endParaRPr lang="en-US"/>
        </a:p>
      </dgm:t>
    </dgm:pt>
    <dgm:pt modelId="{ECA90D92-9681-4042-B9BC-BF6C8EFFDE60}" type="sibTrans" cxnId="{642919C4-1391-4220-B6DA-953A5E59FB22}">
      <dgm:prSet/>
      <dgm:spPr/>
      <dgm:t>
        <a:bodyPr/>
        <a:lstStyle/>
        <a:p>
          <a:endParaRPr lang="en-US"/>
        </a:p>
      </dgm:t>
    </dgm:pt>
    <dgm:pt modelId="{7A2DD908-59CE-4A15-AD81-084F9E1866E2}">
      <dgm:prSet/>
      <dgm:spPr/>
      <dgm:t>
        <a:bodyPr/>
        <a:lstStyle/>
        <a:p>
          <a:r>
            <a:rPr lang="en-US" b="1"/>
            <a:t>Data Heterogeneity:</a:t>
          </a:r>
          <a:r>
            <a:rPr lang="en-US"/>
            <a:t> Combining data from one hospital with another requires massive efforts in data standardization.</a:t>
          </a:r>
        </a:p>
      </dgm:t>
    </dgm:pt>
    <dgm:pt modelId="{3C2503F4-EA34-437D-92D5-71EEB28186BB}" type="parTrans" cxnId="{0C9E2AE5-791D-4BBF-B46F-5A29D845893A}">
      <dgm:prSet/>
      <dgm:spPr/>
      <dgm:t>
        <a:bodyPr/>
        <a:lstStyle/>
        <a:p>
          <a:endParaRPr lang="en-US"/>
        </a:p>
      </dgm:t>
    </dgm:pt>
    <dgm:pt modelId="{590DFD21-5A0E-421B-AF44-836C7C4DA78A}" type="sibTrans" cxnId="{0C9E2AE5-791D-4BBF-B46F-5A29D845893A}">
      <dgm:prSet/>
      <dgm:spPr/>
      <dgm:t>
        <a:bodyPr/>
        <a:lstStyle/>
        <a:p>
          <a:endParaRPr lang="en-US"/>
        </a:p>
      </dgm:t>
    </dgm:pt>
    <dgm:pt modelId="{A1A6D1AF-69CA-4E43-9C28-D687F4216A71}">
      <dgm:prSet/>
      <dgm:spPr/>
      <dgm:t>
        <a:bodyPr/>
        <a:lstStyle/>
        <a:p>
          <a:r>
            <a:rPr lang="en-US" b="1"/>
            <a:t>The “Trust Gap”:</a:t>
          </a:r>
          <a:r>
            <a:rPr lang="en-US"/>
            <a:t> Older clinicians often resist AI-driven interventions that contradict traditional diagnostic heuristics.</a:t>
          </a:r>
        </a:p>
      </dgm:t>
    </dgm:pt>
    <dgm:pt modelId="{C9993B39-6E83-4AFD-9740-F4C60090875A}" type="parTrans" cxnId="{2ECEE06C-F38B-4277-AC67-8B9524AF5204}">
      <dgm:prSet/>
      <dgm:spPr/>
      <dgm:t>
        <a:bodyPr/>
        <a:lstStyle/>
        <a:p>
          <a:endParaRPr lang="en-US"/>
        </a:p>
      </dgm:t>
    </dgm:pt>
    <dgm:pt modelId="{44100931-8054-43A2-8D28-31D01D64C7AB}" type="sibTrans" cxnId="{2ECEE06C-F38B-4277-AC67-8B9524AF5204}">
      <dgm:prSet/>
      <dgm:spPr/>
      <dgm:t>
        <a:bodyPr/>
        <a:lstStyle/>
        <a:p>
          <a:endParaRPr lang="en-US"/>
        </a:p>
      </dgm:t>
    </dgm:pt>
    <dgm:pt modelId="{EFF86D99-E376-4876-BE57-032B30B13456}" type="pres">
      <dgm:prSet presAssocID="{A00624BF-6E28-4F71-A164-E02AD43466E6}" presName="root" presStyleCnt="0">
        <dgm:presLayoutVars>
          <dgm:dir/>
          <dgm:resizeHandles val="exact"/>
        </dgm:presLayoutVars>
      </dgm:prSet>
      <dgm:spPr/>
    </dgm:pt>
    <dgm:pt modelId="{C28B367E-0D94-4F88-9A5D-561D0EA3B8EC}" type="pres">
      <dgm:prSet presAssocID="{84ED6965-25F6-45E1-AE12-9D7839600C9F}" presName="compNode" presStyleCnt="0"/>
      <dgm:spPr/>
    </dgm:pt>
    <dgm:pt modelId="{C0EC7735-78D7-4ACA-8C25-22FB144DB607}" type="pres">
      <dgm:prSet presAssocID="{84ED6965-25F6-45E1-AE12-9D7839600C9F}" presName="bgRect" presStyleLbl="bgShp" presStyleIdx="0" presStyleCnt="3"/>
      <dgm:spPr/>
    </dgm:pt>
    <dgm:pt modelId="{A617E7CA-8ACC-47EF-B071-2270228028A8}" type="pres">
      <dgm:prSet presAssocID="{84ED6965-25F6-45E1-AE12-9D7839600C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448C48C0-373A-4770-A12F-3C61DB04EDF7}" type="pres">
      <dgm:prSet presAssocID="{84ED6965-25F6-45E1-AE12-9D7839600C9F}" presName="spaceRect" presStyleCnt="0"/>
      <dgm:spPr/>
    </dgm:pt>
    <dgm:pt modelId="{7402C057-1F7E-4EE8-94FE-0DD5D1B258C5}" type="pres">
      <dgm:prSet presAssocID="{84ED6965-25F6-45E1-AE12-9D7839600C9F}" presName="parTx" presStyleLbl="revTx" presStyleIdx="0" presStyleCnt="3">
        <dgm:presLayoutVars>
          <dgm:chMax val="0"/>
          <dgm:chPref val="0"/>
        </dgm:presLayoutVars>
      </dgm:prSet>
      <dgm:spPr/>
    </dgm:pt>
    <dgm:pt modelId="{145D1D15-DE02-4FD7-ABCE-683949A113D8}" type="pres">
      <dgm:prSet presAssocID="{ECA90D92-9681-4042-B9BC-BF6C8EFFDE60}" presName="sibTrans" presStyleCnt="0"/>
      <dgm:spPr/>
    </dgm:pt>
    <dgm:pt modelId="{605CEEB7-0A62-4EB1-8230-8AFC9FFFA0FB}" type="pres">
      <dgm:prSet presAssocID="{7A2DD908-59CE-4A15-AD81-084F9E1866E2}" presName="compNode" presStyleCnt="0"/>
      <dgm:spPr/>
    </dgm:pt>
    <dgm:pt modelId="{4B946E14-C38A-4FD9-8BE7-975762935A8A}" type="pres">
      <dgm:prSet presAssocID="{7A2DD908-59CE-4A15-AD81-084F9E1866E2}" presName="bgRect" presStyleLbl="bgShp" presStyleIdx="1" presStyleCnt="3"/>
      <dgm:spPr/>
    </dgm:pt>
    <dgm:pt modelId="{98D94613-4DA9-4066-B56C-C7C70DEB279D}" type="pres">
      <dgm:prSet presAssocID="{7A2DD908-59CE-4A15-AD81-084F9E1866E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241DE77-0FA8-4C49-BB4F-D3C1B62FCD66}" type="pres">
      <dgm:prSet presAssocID="{7A2DD908-59CE-4A15-AD81-084F9E1866E2}" presName="spaceRect" presStyleCnt="0"/>
      <dgm:spPr/>
    </dgm:pt>
    <dgm:pt modelId="{11DC129B-A02F-4874-918E-D31E425EB4E2}" type="pres">
      <dgm:prSet presAssocID="{7A2DD908-59CE-4A15-AD81-084F9E1866E2}" presName="parTx" presStyleLbl="revTx" presStyleIdx="1" presStyleCnt="3">
        <dgm:presLayoutVars>
          <dgm:chMax val="0"/>
          <dgm:chPref val="0"/>
        </dgm:presLayoutVars>
      </dgm:prSet>
      <dgm:spPr/>
    </dgm:pt>
    <dgm:pt modelId="{1C887E0A-0005-4C7B-B9D0-23933AF153B5}" type="pres">
      <dgm:prSet presAssocID="{590DFD21-5A0E-421B-AF44-836C7C4DA78A}" presName="sibTrans" presStyleCnt="0"/>
      <dgm:spPr/>
    </dgm:pt>
    <dgm:pt modelId="{9CB08A33-C55C-498D-8F8A-875FFCEA5CFE}" type="pres">
      <dgm:prSet presAssocID="{A1A6D1AF-69CA-4E43-9C28-D687F4216A71}" presName="compNode" presStyleCnt="0"/>
      <dgm:spPr/>
    </dgm:pt>
    <dgm:pt modelId="{E0781E74-A9FF-45E3-93C6-B37BCEC3D01B}" type="pres">
      <dgm:prSet presAssocID="{A1A6D1AF-69CA-4E43-9C28-D687F4216A71}" presName="bgRect" presStyleLbl="bgShp" presStyleIdx="2" presStyleCnt="3"/>
      <dgm:spPr/>
    </dgm:pt>
    <dgm:pt modelId="{06814C4A-5957-41A5-B837-A3AA88779883}" type="pres">
      <dgm:prSet presAssocID="{A1A6D1AF-69CA-4E43-9C28-D687F4216A7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00184B0D-2D3D-413B-AB2C-AA2EB545EBD0}" type="pres">
      <dgm:prSet presAssocID="{A1A6D1AF-69CA-4E43-9C28-D687F4216A71}" presName="spaceRect" presStyleCnt="0"/>
      <dgm:spPr/>
    </dgm:pt>
    <dgm:pt modelId="{F1C6131F-3785-4AE6-8A32-B259C9EBF5FE}" type="pres">
      <dgm:prSet presAssocID="{A1A6D1AF-69CA-4E43-9C28-D687F4216A7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34E4F2D-52BD-4C7A-BCCA-D608B56C0B66}" type="presOf" srcId="{84ED6965-25F6-45E1-AE12-9D7839600C9F}" destId="{7402C057-1F7E-4EE8-94FE-0DD5D1B258C5}" srcOrd="0" destOrd="0" presId="urn:microsoft.com/office/officeart/2018/2/layout/IconVerticalSolidList"/>
    <dgm:cxn modelId="{2ECEE06C-F38B-4277-AC67-8B9524AF5204}" srcId="{A00624BF-6E28-4F71-A164-E02AD43466E6}" destId="{A1A6D1AF-69CA-4E43-9C28-D687F4216A71}" srcOrd="2" destOrd="0" parTransId="{C9993B39-6E83-4AFD-9740-F4C60090875A}" sibTransId="{44100931-8054-43A2-8D28-31D01D64C7AB}"/>
    <dgm:cxn modelId="{3E5AEEB3-A251-41DE-A8F0-5BE591C1B0CE}" type="presOf" srcId="{7A2DD908-59CE-4A15-AD81-084F9E1866E2}" destId="{11DC129B-A02F-4874-918E-D31E425EB4E2}" srcOrd="0" destOrd="0" presId="urn:microsoft.com/office/officeart/2018/2/layout/IconVerticalSolidList"/>
    <dgm:cxn modelId="{642919C4-1391-4220-B6DA-953A5E59FB22}" srcId="{A00624BF-6E28-4F71-A164-E02AD43466E6}" destId="{84ED6965-25F6-45E1-AE12-9D7839600C9F}" srcOrd="0" destOrd="0" parTransId="{301A9F6F-8AB9-4ADA-9812-A29BA57959F3}" sibTransId="{ECA90D92-9681-4042-B9BC-BF6C8EFFDE60}"/>
    <dgm:cxn modelId="{0C9E2AE5-791D-4BBF-B46F-5A29D845893A}" srcId="{A00624BF-6E28-4F71-A164-E02AD43466E6}" destId="{7A2DD908-59CE-4A15-AD81-084F9E1866E2}" srcOrd="1" destOrd="0" parTransId="{3C2503F4-EA34-437D-92D5-71EEB28186BB}" sibTransId="{590DFD21-5A0E-421B-AF44-836C7C4DA78A}"/>
    <dgm:cxn modelId="{7D5A82FC-C7DD-4CE5-8AC0-66039C4935E8}" type="presOf" srcId="{A1A6D1AF-69CA-4E43-9C28-D687F4216A71}" destId="{F1C6131F-3785-4AE6-8A32-B259C9EBF5FE}" srcOrd="0" destOrd="0" presId="urn:microsoft.com/office/officeart/2018/2/layout/IconVerticalSolidList"/>
    <dgm:cxn modelId="{F86FB4FD-DEFC-4ABF-A356-A3AF73711C28}" type="presOf" srcId="{A00624BF-6E28-4F71-A164-E02AD43466E6}" destId="{EFF86D99-E376-4876-BE57-032B30B13456}" srcOrd="0" destOrd="0" presId="urn:microsoft.com/office/officeart/2018/2/layout/IconVerticalSolidList"/>
    <dgm:cxn modelId="{E5206C20-C7EB-4515-B7F3-1FC30A3F314A}" type="presParOf" srcId="{EFF86D99-E376-4876-BE57-032B30B13456}" destId="{C28B367E-0D94-4F88-9A5D-561D0EA3B8EC}" srcOrd="0" destOrd="0" presId="urn:microsoft.com/office/officeart/2018/2/layout/IconVerticalSolidList"/>
    <dgm:cxn modelId="{FDE395CD-BD88-400E-84AF-A170B4CBAD7A}" type="presParOf" srcId="{C28B367E-0D94-4F88-9A5D-561D0EA3B8EC}" destId="{C0EC7735-78D7-4ACA-8C25-22FB144DB607}" srcOrd="0" destOrd="0" presId="urn:microsoft.com/office/officeart/2018/2/layout/IconVerticalSolidList"/>
    <dgm:cxn modelId="{B35D6E16-657E-42E0-A70D-FDDC5FE32FE9}" type="presParOf" srcId="{C28B367E-0D94-4F88-9A5D-561D0EA3B8EC}" destId="{A617E7CA-8ACC-47EF-B071-2270228028A8}" srcOrd="1" destOrd="0" presId="urn:microsoft.com/office/officeart/2018/2/layout/IconVerticalSolidList"/>
    <dgm:cxn modelId="{C714A1E7-3D31-4026-B583-152572C4AFC8}" type="presParOf" srcId="{C28B367E-0D94-4F88-9A5D-561D0EA3B8EC}" destId="{448C48C0-373A-4770-A12F-3C61DB04EDF7}" srcOrd="2" destOrd="0" presId="urn:microsoft.com/office/officeart/2018/2/layout/IconVerticalSolidList"/>
    <dgm:cxn modelId="{34A378C4-B7E9-4A03-8475-4B62606B7C41}" type="presParOf" srcId="{C28B367E-0D94-4F88-9A5D-561D0EA3B8EC}" destId="{7402C057-1F7E-4EE8-94FE-0DD5D1B258C5}" srcOrd="3" destOrd="0" presId="urn:microsoft.com/office/officeart/2018/2/layout/IconVerticalSolidList"/>
    <dgm:cxn modelId="{9DA2A69E-DEB4-47A0-9F8B-273DFFDC39BB}" type="presParOf" srcId="{EFF86D99-E376-4876-BE57-032B30B13456}" destId="{145D1D15-DE02-4FD7-ABCE-683949A113D8}" srcOrd="1" destOrd="0" presId="urn:microsoft.com/office/officeart/2018/2/layout/IconVerticalSolidList"/>
    <dgm:cxn modelId="{144ED18D-D713-47F2-9F90-34E45E8451BD}" type="presParOf" srcId="{EFF86D99-E376-4876-BE57-032B30B13456}" destId="{605CEEB7-0A62-4EB1-8230-8AFC9FFFA0FB}" srcOrd="2" destOrd="0" presId="urn:microsoft.com/office/officeart/2018/2/layout/IconVerticalSolidList"/>
    <dgm:cxn modelId="{0E99CA10-BC37-4E3C-9831-224C129B6351}" type="presParOf" srcId="{605CEEB7-0A62-4EB1-8230-8AFC9FFFA0FB}" destId="{4B946E14-C38A-4FD9-8BE7-975762935A8A}" srcOrd="0" destOrd="0" presId="urn:microsoft.com/office/officeart/2018/2/layout/IconVerticalSolidList"/>
    <dgm:cxn modelId="{E7ED33CD-EBE0-43A3-9AC0-56816CF16FEB}" type="presParOf" srcId="{605CEEB7-0A62-4EB1-8230-8AFC9FFFA0FB}" destId="{98D94613-4DA9-4066-B56C-C7C70DEB279D}" srcOrd="1" destOrd="0" presId="urn:microsoft.com/office/officeart/2018/2/layout/IconVerticalSolidList"/>
    <dgm:cxn modelId="{DDDDF9A0-FC1D-4667-8A33-CF307A4EAD3E}" type="presParOf" srcId="{605CEEB7-0A62-4EB1-8230-8AFC9FFFA0FB}" destId="{0241DE77-0FA8-4C49-BB4F-D3C1B62FCD66}" srcOrd="2" destOrd="0" presId="urn:microsoft.com/office/officeart/2018/2/layout/IconVerticalSolidList"/>
    <dgm:cxn modelId="{5EAFAF4B-D9BA-46DC-9453-5FC7E8041A07}" type="presParOf" srcId="{605CEEB7-0A62-4EB1-8230-8AFC9FFFA0FB}" destId="{11DC129B-A02F-4874-918E-D31E425EB4E2}" srcOrd="3" destOrd="0" presId="urn:microsoft.com/office/officeart/2018/2/layout/IconVerticalSolidList"/>
    <dgm:cxn modelId="{DDEC5B98-19AA-479D-9D84-E789CDD75981}" type="presParOf" srcId="{EFF86D99-E376-4876-BE57-032B30B13456}" destId="{1C887E0A-0005-4C7B-B9D0-23933AF153B5}" srcOrd="3" destOrd="0" presId="urn:microsoft.com/office/officeart/2018/2/layout/IconVerticalSolidList"/>
    <dgm:cxn modelId="{783A94BA-A7C0-4A57-91AD-5FDC4879C5E2}" type="presParOf" srcId="{EFF86D99-E376-4876-BE57-032B30B13456}" destId="{9CB08A33-C55C-498D-8F8A-875FFCEA5CFE}" srcOrd="4" destOrd="0" presId="urn:microsoft.com/office/officeart/2018/2/layout/IconVerticalSolidList"/>
    <dgm:cxn modelId="{236C795D-9C2F-4063-BF8A-4CD02394BF97}" type="presParOf" srcId="{9CB08A33-C55C-498D-8F8A-875FFCEA5CFE}" destId="{E0781E74-A9FF-45E3-93C6-B37BCEC3D01B}" srcOrd="0" destOrd="0" presId="urn:microsoft.com/office/officeart/2018/2/layout/IconVerticalSolidList"/>
    <dgm:cxn modelId="{5D536488-26AD-4B3E-A6DE-F55DD26239D0}" type="presParOf" srcId="{9CB08A33-C55C-498D-8F8A-875FFCEA5CFE}" destId="{06814C4A-5957-41A5-B837-A3AA88779883}" srcOrd="1" destOrd="0" presId="urn:microsoft.com/office/officeart/2018/2/layout/IconVerticalSolidList"/>
    <dgm:cxn modelId="{CFBD061F-E544-4E55-9208-062012AB6FCC}" type="presParOf" srcId="{9CB08A33-C55C-498D-8F8A-875FFCEA5CFE}" destId="{00184B0D-2D3D-413B-AB2C-AA2EB545EBD0}" srcOrd="2" destOrd="0" presId="urn:microsoft.com/office/officeart/2018/2/layout/IconVerticalSolidList"/>
    <dgm:cxn modelId="{CE790E35-17E6-4D20-A2C8-72EEF61FD0B0}" type="presParOf" srcId="{9CB08A33-C55C-498D-8F8A-875FFCEA5CFE}" destId="{F1C6131F-3785-4AE6-8A32-B259C9EBF5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6DFE069-FD80-469E-8D08-A5DE00D21A8A}" type="doc">
      <dgm:prSet loTypeId="urn:microsoft.com/office/officeart/2005/8/layout/hierarchy2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0D57C06-9578-49DE-B51A-411CCDDAF5BE}">
      <dgm:prSet/>
      <dgm:spPr/>
      <dgm:t>
        <a:bodyPr/>
        <a:lstStyle/>
        <a:p>
          <a:r>
            <a:rPr lang="en-US" b="1"/>
            <a:t>Justice:</a:t>
          </a:r>
          <a:r>
            <a:rPr lang="en-US"/>
            <a:t> Will high-end AI only be for those who can afford Mayo-tier healthcare?</a:t>
          </a:r>
        </a:p>
      </dgm:t>
    </dgm:pt>
    <dgm:pt modelId="{9E9C8332-909F-4FE8-9107-12E509D7D2F4}" type="parTrans" cxnId="{0B9CC141-266C-4489-AC56-0D656979D72C}">
      <dgm:prSet/>
      <dgm:spPr/>
      <dgm:t>
        <a:bodyPr/>
        <a:lstStyle/>
        <a:p>
          <a:endParaRPr lang="en-US"/>
        </a:p>
      </dgm:t>
    </dgm:pt>
    <dgm:pt modelId="{98A9A2E6-2CC3-4C54-9A37-6C38C8D7075B}" type="sibTrans" cxnId="{0B9CC141-266C-4489-AC56-0D656979D72C}">
      <dgm:prSet/>
      <dgm:spPr/>
      <dgm:t>
        <a:bodyPr/>
        <a:lstStyle/>
        <a:p>
          <a:endParaRPr lang="en-US"/>
        </a:p>
      </dgm:t>
    </dgm:pt>
    <dgm:pt modelId="{D9CED0D2-033C-4E91-A8CC-5AEF1E15C254}">
      <dgm:prSet/>
      <dgm:spPr/>
      <dgm:t>
        <a:bodyPr/>
        <a:lstStyle/>
        <a:p>
          <a:r>
            <a:rPr lang="en-US" b="1"/>
            <a:t>Autonomy vs. Paternalism:</a:t>
          </a:r>
          <a:r>
            <a:rPr lang="en-US"/>
            <a:t> If an AI “agent” chooses a treatment path, is the patient truly giving informed consent if the logic is a black box?</a:t>
          </a:r>
        </a:p>
      </dgm:t>
    </dgm:pt>
    <dgm:pt modelId="{743226E1-573B-47F3-B5A4-CB6B9F05EF22}" type="parTrans" cxnId="{C8B27B12-DDBF-4925-A8CA-75F15D8D3F3E}">
      <dgm:prSet/>
      <dgm:spPr/>
      <dgm:t>
        <a:bodyPr/>
        <a:lstStyle/>
        <a:p>
          <a:endParaRPr lang="en-US"/>
        </a:p>
      </dgm:t>
    </dgm:pt>
    <dgm:pt modelId="{27044D16-94B9-4E45-9026-9A11F81DFFC5}" type="sibTrans" cxnId="{C8B27B12-DDBF-4925-A8CA-75F15D8D3F3E}">
      <dgm:prSet/>
      <dgm:spPr/>
      <dgm:t>
        <a:bodyPr/>
        <a:lstStyle/>
        <a:p>
          <a:endParaRPr lang="en-US"/>
        </a:p>
      </dgm:t>
    </dgm:pt>
    <dgm:pt modelId="{49F83127-B8CC-494A-9C3D-F22F59353867}">
      <dgm:prSet/>
      <dgm:spPr/>
      <dgm:t>
        <a:bodyPr/>
        <a:lstStyle/>
        <a:p>
          <a:r>
            <a:rPr lang="en-US" b="1"/>
            <a:t>Philosophical lens:</a:t>
          </a:r>
          <a:r>
            <a:rPr lang="en-US"/>
            <a:t> </a:t>
          </a:r>
        </a:p>
      </dgm:t>
    </dgm:pt>
    <dgm:pt modelId="{7C4ECE26-5661-444D-8F3C-8D9355C348D0}" type="parTrans" cxnId="{EC20ED9C-216B-465A-AD6C-74EEDDB71B6A}">
      <dgm:prSet/>
      <dgm:spPr/>
      <dgm:t>
        <a:bodyPr/>
        <a:lstStyle/>
        <a:p>
          <a:endParaRPr lang="en-US"/>
        </a:p>
      </dgm:t>
    </dgm:pt>
    <dgm:pt modelId="{B8F9385A-8B50-4B50-ADF9-DF32A92A4C5F}" type="sibTrans" cxnId="{EC20ED9C-216B-465A-AD6C-74EEDDB71B6A}">
      <dgm:prSet/>
      <dgm:spPr/>
      <dgm:t>
        <a:bodyPr/>
        <a:lstStyle/>
        <a:p>
          <a:endParaRPr lang="en-US"/>
        </a:p>
      </dgm:t>
    </dgm:pt>
    <dgm:pt modelId="{2B9F145E-2C95-4C72-95AA-5632F94EA54E}">
      <dgm:prSet/>
      <dgm:spPr/>
      <dgm:t>
        <a:bodyPr/>
        <a:lstStyle/>
        <a:p>
          <a:r>
            <a:rPr lang="en-US"/>
            <a:t>Utilitarianism: Is a 1% error rate in AI acceptable if it reduces overall medical errors by 50%?</a:t>
          </a:r>
        </a:p>
      </dgm:t>
    </dgm:pt>
    <dgm:pt modelId="{5DEB3E1D-F4D4-4967-BD95-BF0C30BB5CB8}" type="parTrans" cxnId="{3588547C-FFE5-4DA8-A2E6-9FD33B576134}">
      <dgm:prSet/>
      <dgm:spPr/>
      <dgm:t>
        <a:bodyPr/>
        <a:lstStyle/>
        <a:p>
          <a:endParaRPr lang="en-US"/>
        </a:p>
      </dgm:t>
    </dgm:pt>
    <dgm:pt modelId="{85E37E20-6D3C-42F1-8288-756120DFE04B}" type="sibTrans" cxnId="{3588547C-FFE5-4DA8-A2E6-9FD33B576134}">
      <dgm:prSet/>
      <dgm:spPr/>
      <dgm:t>
        <a:bodyPr/>
        <a:lstStyle/>
        <a:p>
          <a:endParaRPr lang="en-US"/>
        </a:p>
      </dgm:t>
    </dgm:pt>
    <dgm:pt modelId="{8D96E52F-5C07-4E63-8319-4C4CFE930231}">
      <dgm:prSet/>
      <dgm:spPr/>
      <dgm:t>
        <a:bodyPr/>
        <a:lstStyle/>
        <a:p>
          <a:r>
            <a:rPr lang="en-US"/>
            <a:t>Virtue Ethics: Maintaining the human touch in a digitized medical relationship.</a:t>
          </a:r>
        </a:p>
      </dgm:t>
    </dgm:pt>
    <dgm:pt modelId="{7EC877CF-CA4D-4339-B200-FCF938FCF074}" type="parTrans" cxnId="{C79DE009-6140-4F5E-9A40-3C2B17003C71}">
      <dgm:prSet/>
      <dgm:spPr/>
      <dgm:t>
        <a:bodyPr/>
        <a:lstStyle/>
        <a:p>
          <a:endParaRPr lang="en-US"/>
        </a:p>
      </dgm:t>
    </dgm:pt>
    <dgm:pt modelId="{B944C155-9793-4D47-B8A0-AADA708EF404}" type="sibTrans" cxnId="{C79DE009-6140-4F5E-9A40-3C2B17003C71}">
      <dgm:prSet/>
      <dgm:spPr/>
      <dgm:t>
        <a:bodyPr/>
        <a:lstStyle/>
        <a:p>
          <a:endParaRPr lang="en-US"/>
        </a:p>
      </dgm:t>
    </dgm:pt>
    <dgm:pt modelId="{5E04F414-1B56-429B-B895-2F10CF91489C}" type="pres">
      <dgm:prSet presAssocID="{C6DFE069-FD80-469E-8D08-A5DE00D21A8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7E10B3DA-E6BB-4208-BB07-FFC84FBD7CF2}" type="pres">
      <dgm:prSet presAssocID="{50D57C06-9578-49DE-B51A-411CCDDAF5BE}" presName="root1" presStyleCnt="0"/>
      <dgm:spPr/>
    </dgm:pt>
    <dgm:pt modelId="{0E51AAA4-4578-49F9-939D-A74E1CC13D7A}" type="pres">
      <dgm:prSet presAssocID="{50D57C06-9578-49DE-B51A-411CCDDAF5BE}" presName="LevelOneTextNode" presStyleLbl="node0" presStyleIdx="0" presStyleCnt="3">
        <dgm:presLayoutVars>
          <dgm:chPref val="3"/>
        </dgm:presLayoutVars>
      </dgm:prSet>
      <dgm:spPr/>
    </dgm:pt>
    <dgm:pt modelId="{7DDB6CA5-0A6B-4EB1-97B1-454EA41E02A2}" type="pres">
      <dgm:prSet presAssocID="{50D57C06-9578-49DE-B51A-411CCDDAF5BE}" presName="level2hierChild" presStyleCnt="0"/>
      <dgm:spPr/>
    </dgm:pt>
    <dgm:pt modelId="{96A05AFB-C03E-4DCF-8F2B-E3B06759361D}" type="pres">
      <dgm:prSet presAssocID="{D9CED0D2-033C-4E91-A8CC-5AEF1E15C254}" presName="root1" presStyleCnt="0"/>
      <dgm:spPr/>
    </dgm:pt>
    <dgm:pt modelId="{47C4FD19-E915-4E5C-BCF1-FBF3871097FF}" type="pres">
      <dgm:prSet presAssocID="{D9CED0D2-033C-4E91-A8CC-5AEF1E15C254}" presName="LevelOneTextNode" presStyleLbl="node0" presStyleIdx="1" presStyleCnt="3">
        <dgm:presLayoutVars>
          <dgm:chPref val="3"/>
        </dgm:presLayoutVars>
      </dgm:prSet>
      <dgm:spPr/>
    </dgm:pt>
    <dgm:pt modelId="{4B939162-542D-4761-8451-877CC1584233}" type="pres">
      <dgm:prSet presAssocID="{D9CED0D2-033C-4E91-A8CC-5AEF1E15C254}" presName="level2hierChild" presStyleCnt="0"/>
      <dgm:spPr/>
    </dgm:pt>
    <dgm:pt modelId="{FFC984FA-5F96-4F86-90C1-CE80A5966ED9}" type="pres">
      <dgm:prSet presAssocID="{49F83127-B8CC-494A-9C3D-F22F59353867}" presName="root1" presStyleCnt="0"/>
      <dgm:spPr/>
    </dgm:pt>
    <dgm:pt modelId="{8337CBBB-9D4A-42A2-BD83-9429615AADA8}" type="pres">
      <dgm:prSet presAssocID="{49F83127-B8CC-494A-9C3D-F22F59353867}" presName="LevelOneTextNode" presStyleLbl="node0" presStyleIdx="2" presStyleCnt="3">
        <dgm:presLayoutVars>
          <dgm:chPref val="3"/>
        </dgm:presLayoutVars>
      </dgm:prSet>
      <dgm:spPr/>
    </dgm:pt>
    <dgm:pt modelId="{CFD44F81-C97C-493C-B4D3-5AB8FEABB492}" type="pres">
      <dgm:prSet presAssocID="{49F83127-B8CC-494A-9C3D-F22F59353867}" presName="level2hierChild" presStyleCnt="0"/>
      <dgm:spPr/>
    </dgm:pt>
    <dgm:pt modelId="{67670EEC-84DC-41A2-B458-D8C8754E1084}" type="pres">
      <dgm:prSet presAssocID="{5DEB3E1D-F4D4-4967-BD95-BF0C30BB5CB8}" presName="conn2-1" presStyleLbl="parChTrans1D2" presStyleIdx="0" presStyleCnt="2"/>
      <dgm:spPr/>
    </dgm:pt>
    <dgm:pt modelId="{B4D91ECD-6DFC-42BB-9CDE-F72FDA1C1792}" type="pres">
      <dgm:prSet presAssocID="{5DEB3E1D-F4D4-4967-BD95-BF0C30BB5CB8}" presName="connTx" presStyleLbl="parChTrans1D2" presStyleIdx="0" presStyleCnt="2"/>
      <dgm:spPr/>
    </dgm:pt>
    <dgm:pt modelId="{61EBA45C-B281-4321-9386-844B49D2CE70}" type="pres">
      <dgm:prSet presAssocID="{2B9F145E-2C95-4C72-95AA-5632F94EA54E}" presName="root2" presStyleCnt="0"/>
      <dgm:spPr/>
    </dgm:pt>
    <dgm:pt modelId="{3B0B3C08-022B-45AC-AFEA-31088F31E936}" type="pres">
      <dgm:prSet presAssocID="{2B9F145E-2C95-4C72-95AA-5632F94EA54E}" presName="LevelTwoTextNode" presStyleLbl="node2" presStyleIdx="0" presStyleCnt="2">
        <dgm:presLayoutVars>
          <dgm:chPref val="3"/>
        </dgm:presLayoutVars>
      </dgm:prSet>
      <dgm:spPr/>
    </dgm:pt>
    <dgm:pt modelId="{94C540A8-346D-412D-B65A-40500A9C1185}" type="pres">
      <dgm:prSet presAssocID="{2B9F145E-2C95-4C72-95AA-5632F94EA54E}" presName="level3hierChild" presStyleCnt="0"/>
      <dgm:spPr/>
    </dgm:pt>
    <dgm:pt modelId="{4815123F-4011-401B-AF0E-79E887571BE2}" type="pres">
      <dgm:prSet presAssocID="{7EC877CF-CA4D-4339-B200-FCF938FCF074}" presName="conn2-1" presStyleLbl="parChTrans1D2" presStyleIdx="1" presStyleCnt="2"/>
      <dgm:spPr/>
    </dgm:pt>
    <dgm:pt modelId="{02EC5DB0-4ABD-4BC3-87C8-097A706706D1}" type="pres">
      <dgm:prSet presAssocID="{7EC877CF-CA4D-4339-B200-FCF938FCF074}" presName="connTx" presStyleLbl="parChTrans1D2" presStyleIdx="1" presStyleCnt="2"/>
      <dgm:spPr/>
    </dgm:pt>
    <dgm:pt modelId="{EE1A0680-1713-4D47-89F7-00F33B78A801}" type="pres">
      <dgm:prSet presAssocID="{8D96E52F-5C07-4E63-8319-4C4CFE930231}" presName="root2" presStyleCnt="0"/>
      <dgm:spPr/>
    </dgm:pt>
    <dgm:pt modelId="{32448252-8BBC-4273-90E1-EA870BAB9B59}" type="pres">
      <dgm:prSet presAssocID="{8D96E52F-5C07-4E63-8319-4C4CFE930231}" presName="LevelTwoTextNode" presStyleLbl="node2" presStyleIdx="1" presStyleCnt="2">
        <dgm:presLayoutVars>
          <dgm:chPref val="3"/>
        </dgm:presLayoutVars>
      </dgm:prSet>
      <dgm:spPr/>
    </dgm:pt>
    <dgm:pt modelId="{101A4CA7-8A0D-42BC-8963-D40D1CF299F2}" type="pres">
      <dgm:prSet presAssocID="{8D96E52F-5C07-4E63-8319-4C4CFE930231}" presName="level3hierChild" presStyleCnt="0"/>
      <dgm:spPr/>
    </dgm:pt>
  </dgm:ptLst>
  <dgm:cxnLst>
    <dgm:cxn modelId="{B583EC02-BCEB-4892-B405-F9CD4609CC6A}" type="presOf" srcId="{7EC877CF-CA4D-4339-B200-FCF938FCF074}" destId="{02EC5DB0-4ABD-4BC3-87C8-097A706706D1}" srcOrd="1" destOrd="0" presId="urn:microsoft.com/office/officeart/2005/8/layout/hierarchy2"/>
    <dgm:cxn modelId="{E5F68503-EFB2-419A-8AB2-593B3E2EADFA}" type="presOf" srcId="{49F83127-B8CC-494A-9C3D-F22F59353867}" destId="{8337CBBB-9D4A-42A2-BD83-9429615AADA8}" srcOrd="0" destOrd="0" presId="urn:microsoft.com/office/officeart/2005/8/layout/hierarchy2"/>
    <dgm:cxn modelId="{C79DE009-6140-4F5E-9A40-3C2B17003C71}" srcId="{49F83127-B8CC-494A-9C3D-F22F59353867}" destId="{8D96E52F-5C07-4E63-8319-4C4CFE930231}" srcOrd="1" destOrd="0" parTransId="{7EC877CF-CA4D-4339-B200-FCF938FCF074}" sibTransId="{B944C155-9793-4D47-B8A0-AADA708EF404}"/>
    <dgm:cxn modelId="{C8B27B12-DDBF-4925-A8CA-75F15D8D3F3E}" srcId="{C6DFE069-FD80-469E-8D08-A5DE00D21A8A}" destId="{D9CED0D2-033C-4E91-A8CC-5AEF1E15C254}" srcOrd="1" destOrd="0" parTransId="{743226E1-573B-47F3-B5A4-CB6B9F05EF22}" sibTransId="{27044D16-94B9-4E45-9026-9A11F81DFFC5}"/>
    <dgm:cxn modelId="{65388F5F-51E5-49A4-9C2E-51EA9C12F1B7}" type="presOf" srcId="{C6DFE069-FD80-469E-8D08-A5DE00D21A8A}" destId="{5E04F414-1B56-429B-B895-2F10CF91489C}" srcOrd="0" destOrd="0" presId="urn:microsoft.com/office/officeart/2005/8/layout/hierarchy2"/>
    <dgm:cxn modelId="{0B9CC141-266C-4489-AC56-0D656979D72C}" srcId="{C6DFE069-FD80-469E-8D08-A5DE00D21A8A}" destId="{50D57C06-9578-49DE-B51A-411CCDDAF5BE}" srcOrd="0" destOrd="0" parTransId="{9E9C8332-909F-4FE8-9107-12E509D7D2F4}" sibTransId="{98A9A2E6-2CC3-4C54-9A37-6C38C8D7075B}"/>
    <dgm:cxn modelId="{6185A743-5C31-4800-BE87-AD6BC96806FF}" type="presOf" srcId="{2B9F145E-2C95-4C72-95AA-5632F94EA54E}" destId="{3B0B3C08-022B-45AC-AFEA-31088F31E936}" srcOrd="0" destOrd="0" presId="urn:microsoft.com/office/officeart/2005/8/layout/hierarchy2"/>
    <dgm:cxn modelId="{64D6CF49-6E13-4216-87FE-5039BEADE62B}" type="presOf" srcId="{D9CED0D2-033C-4E91-A8CC-5AEF1E15C254}" destId="{47C4FD19-E915-4E5C-BCF1-FBF3871097FF}" srcOrd="0" destOrd="0" presId="urn:microsoft.com/office/officeart/2005/8/layout/hierarchy2"/>
    <dgm:cxn modelId="{3588547C-FFE5-4DA8-A2E6-9FD33B576134}" srcId="{49F83127-B8CC-494A-9C3D-F22F59353867}" destId="{2B9F145E-2C95-4C72-95AA-5632F94EA54E}" srcOrd="0" destOrd="0" parTransId="{5DEB3E1D-F4D4-4967-BD95-BF0C30BB5CB8}" sibTransId="{85E37E20-6D3C-42F1-8288-756120DFE04B}"/>
    <dgm:cxn modelId="{4F8BDC80-392E-4DD3-9EB4-34F30B93D3AB}" type="presOf" srcId="{50D57C06-9578-49DE-B51A-411CCDDAF5BE}" destId="{0E51AAA4-4578-49F9-939D-A74E1CC13D7A}" srcOrd="0" destOrd="0" presId="urn:microsoft.com/office/officeart/2005/8/layout/hierarchy2"/>
    <dgm:cxn modelId="{3EAE418E-A6E5-4664-B173-29EC732FD320}" type="presOf" srcId="{8D96E52F-5C07-4E63-8319-4C4CFE930231}" destId="{32448252-8BBC-4273-90E1-EA870BAB9B59}" srcOrd="0" destOrd="0" presId="urn:microsoft.com/office/officeart/2005/8/layout/hierarchy2"/>
    <dgm:cxn modelId="{EC20ED9C-216B-465A-AD6C-74EEDDB71B6A}" srcId="{C6DFE069-FD80-469E-8D08-A5DE00D21A8A}" destId="{49F83127-B8CC-494A-9C3D-F22F59353867}" srcOrd="2" destOrd="0" parTransId="{7C4ECE26-5661-444D-8F3C-8D9355C348D0}" sibTransId="{B8F9385A-8B50-4B50-ADF9-DF32A92A4C5F}"/>
    <dgm:cxn modelId="{748558BC-6585-41DF-A1FC-58CC75210ED6}" type="presOf" srcId="{5DEB3E1D-F4D4-4967-BD95-BF0C30BB5CB8}" destId="{B4D91ECD-6DFC-42BB-9CDE-F72FDA1C1792}" srcOrd="1" destOrd="0" presId="urn:microsoft.com/office/officeart/2005/8/layout/hierarchy2"/>
    <dgm:cxn modelId="{3E608BD6-47CC-41BD-B873-9BA3F2F8ED9C}" type="presOf" srcId="{5DEB3E1D-F4D4-4967-BD95-BF0C30BB5CB8}" destId="{67670EEC-84DC-41A2-B458-D8C8754E1084}" srcOrd="0" destOrd="0" presId="urn:microsoft.com/office/officeart/2005/8/layout/hierarchy2"/>
    <dgm:cxn modelId="{D20E00E3-EA60-48B5-AC5E-5917EA34173C}" type="presOf" srcId="{7EC877CF-CA4D-4339-B200-FCF938FCF074}" destId="{4815123F-4011-401B-AF0E-79E887571BE2}" srcOrd="0" destOrd="0" presId="urn:microsoft.com/office/officeart/2005/8/layout/hierarchy2"/>
    <dgm:cxn modelId="{175FE19A-57D8-4A6B-B602-9BE12ACA4444}" type="presParOf" srcId="{5E04F414-1B56-429B-B895-2F10CF91489C}" destId="{7E10B3DA-E6BB-4208-BB07-FFC84FBD7CF2}" srcOrd="0" destOrd="0" presId="urn:microsoft.com/office/officeart/2005/8/layout/hierarchy2"/>
    <dgm:cxn modelId="{4821C21C-F9C5-4FEE-B8BC-D892C6D99336}" type="presParOf" srcId="{7E10B3DA-E6BB-4208-BB07-FFC84FBD7CF2}" destId="{0E51AAA4-4578-49F9-939D-A74E1CC13D7A}" srcOrd="0" destOrd="0" presId="urn:microsoft.com/office/officeart/2005/8/layout/hierarchy2"/>
    <dgm:cxn modelId="{32E048E2-5D06-412E-804C-1CE77DD78171}" type="presParOf" srcId="{7E10B3DA-E6BB-4208-BB07-FFC84FBD7CF2}" destId="{7DDB6CA5-0A6B-4EB1-97B1-454EA41E02A2}" srcOrd="1" destOrd="0" presId="urn:microsoft.com/office/officeart/2005/8/layout/hierarchy2"/>
    <dgm:cxn modelId="{EB8815B7-A9E0-4678-974F-D964E84A7FDC}" type="presParOf" srcId="{5E04F414-1B56-429B-B895-2F10CF91489C}" destId="{96A05AFB-C03E-4DCF-8F2B-E3B06759361D}" srcOrd="1" destOrd="0" presId="urn:microsoft.com/office/officeart/2005/8/layout/hierarchy2"/>
    <dgm:cxn modelId="{2F72AEC8-DC0A-44A4-86DE-FCF47BEDEA95}" type="presParOf" srcId="{96A05AFB-C03E-4DCF-8F2B-E3B06759361D}" destId="{47C4FD19-E915-4E5C-BCF1-FBF3871097FF}" srcOrd="0" destOrd="0" presId="urn:microsoft.com/office/officeart/2005/8/layout/hierarchy2"/>
    <dgm:cxn modelId="{E65775EB-43E7-4404-8299-C1D67E0C46AF}" type="presParOf" srcId="{96A05AFB-C03E-4DCF-8F2B-E3B06759361D}" destId="{4B939162-542D-4761-8451-877CC1584233}" srcOrd="1" destOrd="0" presId="urn:microsoft.com/office/officeart/2005/8/layout/hierarchy2"/>
    <dgm:cxn modelId="{26CED68A-7521-424F-AB97-D6F0F10F4FBD}" type="presParOf" srcId="{5E04F414-1B56-429B-B895-2F10CF91489C}" destId="{FFC984FA-5F96-4F86-90C1-CE80A5966ED9}" srcOrd="2" destOrd="0" presId="urn:microsoft.com/office/officeart/2005/8/layout/hierarchy2"/>
    <dgm:cxn modelId="{273D3FCA-458E-4CBB-A22D-E394CB480D34}" type="presParOf" srcId="{FFC984FA-5F96-4F86-90C1-CE80A5966ED9}" destId="{8337CBBB-9D4A-42A2-BD83-9429615AADA8}" srcOrd="0" destOrd="0" presId="urn:microsoft.com/office/officeart/2005/8/layout/hierarchy2"/>
    <dgm:cxn modelId="{86233787-A412-4474-8D33-90FF51BB27EA}" type="presParOf" srcId="{FFC984FA-5F96-4F86-90C1-CE80A5966ED9}" destId="{CFD44F81-C97C-493C-B4D3-5AB8FEABB492}" srcOrd="1" destOrd="0" presId="urn:microsoft.com/office/officeart/2005/8/layout/hierarchy2"/>
    <dgm:cxn modelId="{B0D12BA1-230F-4B86-B261-1ED96F6E79ED}" type="presParOf" srcId="{CFD44F81-C97C-493C-B4D3-5AB8FEABB492}" destId="{67670EEC-84DC-41A2-B458-D8C8754E1084}" srcOrd="0" destOrd="0" presId="urn:microsoft.com/office/officeart/2005/8/layout/hierarchy2"/>
    <dgm:cxn modelId="{2F3BC3B4-C25D-4DC0-BB05-D43C5415B363}" type="presParOf" srcId="{67670EEC-84DC-41A2-B458-D8C8754E1084}" destId="{B4D91ECD-6DFC-42BB-9CDE-F72FDA1C1792}" srcOrd="0" destOrd="0" presId="urn:microsoft.com/office/officeart/2005/8/layout/hierarchy2"/>
    <dgm:cxn modelId="{1037017E-5E71-407B-9251-65C44F2986C6}" type="presParOf" srcId="{CFD44F81-C97C-493C-B4D3-5AB8FEABB492}" destId="{61EBA45C-B281-4321-9386-844B49D2CE70}" srcOrd="1" destOrd="0" presId="urn:microsoft.com/office/officeart/2005/8/layout/hierarchy2"/>
    <dgm:cxn modelId="{3770BDD1-9667-4F62-BCAA-306C302EE77A}" type="presParOf" srcId="{61EBA45C-B281-4321-9386-844B49D2CE70}" destId="{3B0B3C08-022B-45AC-AFEA-31088F31E936}" srcOrd="0" destOrd="0" presId="urn:microsoft.com/office/officeart/2005/8/layout/hierarchy2"/>
    <dgm:cxn modelId="{3736D7D3-9F1D-4FE6-88EC-25541DB0990E}" type="presParOf" srcId="{61EBA45C-B281-4321-9386-844B49D2CE70}" destId="{94C540A8-346D-412D-B65A-40500A9C1185}" srcOrd="1" destOrd="0" presId="urn:microsoft.com/office/officeart/2005/8/layout/hierarchy2"/>
    <dgm:cxn modelId="{47149E6D-E70E-441C-8507-84DDB479994B}" type="presParOf" srcId="{CFD44F81-C97C-493C-B4D3-5AB8FEABB492}" destId="{4815123F-4011-401B-AF0E-79E887571BE2}" srcOrd="2" destOrd="0" presId="urn:microsoft.com/office/officeart/2005/8/layout/hierarchy2"/>
    <dgm:cxn modelId="{46361F40-1370-41CC-8144-44BB602C730E}" type="presParOf" srcId="{4815123F-4011-401B-AF0E-79E887571BE2}" destId="{02EC5DB0-4ABD-4BC3-87C8-097A706706D1}" srcOrd="0" destOrd="0" presId="urn:microsoft.com/office/officeart/2005/8/layout/hierarchy2"/>
    <dgm:cxn modelId="{67FFAC3A-AA24-4380-A049-E7BFF3EF96B2}" type="presParOf" srcId="{CFD44F81-C97C-493C-B4D3-5AB8FEABB492}" destId="{EE1A0680-1713-4D47-89F7-00F33B78A801}" srcOrd="3" destOrd="0" presId="urn:microsoft.com/office/officeart/2005/8/layout/hierarchy2"/>
    <dgm:cxn modelId="{2068599A-22EB-4C5C-9135-D8B68DEA2DDE}" type="presParOf" srcId="{EE1A0680-1713-4D47-89F7-00F33B78A801}" destId="{32448252-8BBC-4273-90E1-EA870BAB9B59}" srcOrd="0" destOrd="0" presId="urn:microsoft.com/office/officeart/2005/8/layout/hierarchy2"/>
    <dgm:cxn modelId="{782A0DAD-C239-41DB-A158-5253F788CE11}" type="presParOf" srcId="{EE1A0680-1713-4D47-89F7-00F33B78A801}" destId="{101A4CA7-8A0D-42BC-8963-D40D1CF299F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A2CE218-46E0-46A6-B1FC-60822CEE985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6F8755A-7E45-499A-B44F-46B05441A516}">
      <dgm:prSet/>
      <dgm:spPr/>
      <dgm:t>
        <a:bodyPr/>
        <a:lstStyle/>
        <a:p>
          <a:r>
            <a:rPr lang="en-US" b="1"/>
            <a:t>Positive:</a:t>
          </a:r>
          <a:r>
            <a:rPr lang="en-US"/>
            <a:t> Democratization of expert care. A local GP in a rural town can now access "Mayo-level" diagnostic intelligence through the platform.</a:t>
          </a:r>
        </a:p>
      </dgm:t>
    </dgm:pt>
    <dgm:pt modelId="{3BD3F5B7-F718-442E-B261-5727CEBFA873}" type="parTrans" cxnId="{D8627AEE-6A65-45BF-8E86-B5A4EB7FE825}">
      <dgm:prSet/>
      <dgm:spPr/>
      <dgm:t>
        <a:bodyPr/>
        <a:lstStyle/>
        <a:p>
          <a:endParaRPr lang="en-US"/>
        </a:p>
      </dgm:t>
    </dgm:pt>
    <dgm:pt modelId="{3F678253-231C-45E7-8853-4767F8C6F88D}" type="sibTrans" cxnId="{D8627AEE-6A65-45BF-8E86-B5A4EB7FE825}">
      <dgm:prSet/>
      <dgm:spPr/>
      <dgm:t>
        <a:bodyPr/>
        <a:lstStyle/>
        <a:p>
          <a:endParaRPr lang="en-US"/>
        </a:p>
      </dgm:t>
    </dgm:pt>
    <dgm:pt modelId="{EA2F0519-3D8C-4F5E-ABDE-E6BCABE6C181}">
      <dgm:prSet/>
      <dgm:spPr/>
      <dgm:t>
        <a:bodyPr/>
        <a:lstStyle/>
        <a:p>
          <a:r>
            <a:rPr lang="en-US" b="1"/>
            <a:t>Negative:</a:t>
          </a:r>
          <a:r>
            <a:rPr lang="en-US"/>
            <a:t> </a:t>
          </a:r>
          <a:r>
            <a:rPr lang="en-US" b="1"/>
            <a:t>Deskilling.</a:t>
          </a:r>
          <a:r>
            <a:rPr lang="en-US"/>
            <a:t> New doctors in 2026 may become over-reliant on AI summaries, losing the critical thinking skills needed when the system goes down.</a:t>
          </a:r>
        </a:p>
      </dgm:t>
    </dgm:pt>
    <dgm:pt modelId="{437F14FE-DE86-4BED-B050-1FF4718747E5}" type="parTrans" cxnId="{B790DEBC-E52C-4E1F-8869-73A208E1B980}">
      <dgm:prSet/>
      <dgm:spPr/>
      <dgm:t>
        <a:bodyPr/>
        <a:lstStyle/>
        <a:p>
          <a:endParaRPr lang="en-US"/>
        </a:p>
      </dgm:t>
    </dgm:pt>
    <dgm:pt modelId="{BEEBA667-7C19-4E08-AE6B-5ADECB8259C8}" type="sibTrans" cxnId="{B790DEBC-E52C-4E1F-8869-73A208E1B980}">
      <dgm:prSet/>
      <dgm:spPr/>
      <dgm:t>
        <a:bodyPr/>
        <a:lstStyle/>
        <a:p>
          <a:endParaRPr lang="en-US"/>
        </a:p>
      </dgm:t>
    </dgm:pt>
    <dgm:pt modelId="{57F2975D-97CC-4B6C-B011-AC5876FAC81C}">
      <dgm:prSet/>
      <dgm:spPr/>
      <dgm:t>
        <a:bodyPr/>
        <a:lstStyle/>
        <a:p>
          <a:r>
            <a:rPr lang="en-US" b="1"/>
            <a:t>Global Reach:</a:t>
          </a:r>
          <a:r>
            <a:rPr lang="en-US"/>
            <a:t> The expansion of the Connect network to three continents is creating the first truly global health data set.</a:t>
          </a:r>
        </a:p>
      </dgm:t>
    </dgm:pt>
    <dgm:pt modelId="{780FFDFB-E186-4BE6-8C02-B349C020F24A}" type="parTrans" cxnId="{8AAAD049-45CC-4D9D-ABFA-D174FD611C5A}">
      <dgm:prSet/>
      <dgm:spPr/>
      <dgm:t>
        <a:bodyPr/>
        <a:lstStyle/>
        <a:p>
          <a:endParaRPr lang="en-US"/>
        </a:p>
      </dgm:t>
    </dgm:pt>
    <dgm:pt modelId="{A32421C6-5450-4D2F-B7A0-E03DD6B8A7EF}" type="sibTrans" cxnId="{8AAAD049-45CC-4D9D-ABFA-D174FD611C5A}">
      <dgm:prSet/>
      <dgm:spPr/>
      <dgm:t>
        <a:bodyPr/>
        <a:lstStyle/>
        <a:p>
          <a:endParaRPr lang="en-US"/>
        </a:p>
      </dgm:t>
    </dgm:pt>
    <dgm:pt modelId="{C343A080-541E-4FA3-8F1F-32292D9A056A}" type="pres">
      <dgm:prSet presAssocID="{DA2CE218-46E0-46A6-B1FC-60822CEE985F}" presName="linear" presStyleCnt="0">
        <dgm:presLayoutVars>
          <dgm:animLvl val="lvl"/>
          <dgm:resizeHandles val="exact"/>
        </dgm:presLayoutVars>
      </dgm:prSet>
      <dgm:spPr/>
    </dgm:pt>
    <dgm:pt modelId="{2B9C05A3-13F0-4980-8DE7-E6EB9A50D73E}" type="pres">
      <dgm:prSet presAssocID="{E6F8755A-7E45-499A-B44F-46B05441A51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BF50A5B-5C1D-457D-8A15-AFA8F3EFC1B4}" type="pres">
      <dgm:prSet presAssocID="{3F678253-231C-45E7-8853-4767F8C6F88D}" presName="spacer" presStyleCnt="0"/>
      <dgm:spPr/>
    </dgm:pt>
    <dgm:pt modelId="{DDA87E09-200A-4C1E-BD6C-FAD4789DB717}" type="pres">
      <dgm:prSet presAssocID="{EA2F0519-3D8C-4F5E-ABDE-E6BCABE6C18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7E30918-2806-409A-8457-6EDD3FF1F191}" type="pres">
      <dgm:prSet presAssocID="{BEEBA667-7C19-4E08-AE6B-5ADECB8259C8}" presName="spacer" presStyleCnt="0"/>
      <dgm:spPr/>
    </dgm:pt>
    <dgm:pt modelId="{AA4870F8-7446-4773-800A-5323F8244A07}" type="pres">
      <dgm:prSet presAssocID="{57F2975D-97CC-4B6C-B011-AC5876FAC81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914CE66-1CCC-4308-8B39-38298A6C6A9D}" type="presOf" srcId="{57F2975D-97CC-4B6C-B011-AC5876FAC81C}" destId="{AA4870F8-7446-4773-800A-5323F8244A07}" srcOrd="0" destOrd="0" presId="urn:microsoft.com/office/officeart/2005/8/layout/vList2"/>
    <dgm:cxn modelId="{8AAAD049-45CC-4D9D-ABFA-D174FD611C5A}" srcId="{DA2CE218-46E0-46A6-B1FC-60822CEE985F}" destId="{57F2975D-97CC-4B6C-B011-AC5876FAC81C}" srcOrd="2" destOrd="0" parTransId="{780FFDFB-E186-4BE6-8C02-B349C020F24A}" sibTransId="{A32421C6-5450-4D2F-B7A0-E03DD6B8A7EF}"/>
    <dgm:cxn modelId="{DA5C3399-B9F3-4A59-8410-BBDFA1D63425}" type="presOf" srcId="{E6F8755A-7E45-499A-B44F-46B05441A516}" destId="{2B9C05A3-13F0-4980-8DE7-E6EB9A50D73E}" srcOrd="0" destOrd="0" presId="urn:microsoft.com/office/officeart/2005/8/layout/vList2"/>
    <dgm:cxn modelId="{B790DEBC-E52C-4E1F-8869-73A208E1B980}" srcId="{DA2CE218-46E0-46A6-B1FC-60822CEE985F}" destId="{EA2F0519-3D8C-4F5E-ABDE-E6BCABE6C181}" srcOrd="1" destOrd="0" parTransId="{437F14FE-DE86-4BED-B050-1FF4718747E5}" sibTransId="{BEEBA667-7C19-4E08-AE6B-5ADECB8259C8}"/>
    <dgm:cxn modelId="{0DFD07BD-6FAC-461B-A121-54C22B627341}" type="presOf" srcId="{DA2CE218-46E0-46A6-B1FC-60822CEE985F}" destId="{C343A080-541E-4FA3-8F1F-32292D9A056A}" srcOrd="0" destOrd="0" presId="urn:microsoft.com/office/officeart/2005/8/layout/vList2"/>
    <dgm:cxn modelId="{5827A4D0-5874-4F94-80D9-E7936F0DF1FB}" type="presOf" srcId="{EA2F0519-3D8C-4F5E-ABDE-E6BCABE6C181}" destId="{DDA87E09-200A-4C1E-BD6C-FAD4789DB717}" srcOrd="0" destOrd="0" presId="urn:microsoft.com/office/officeart/2005/8/layout/vList2"/>
    <dgm:cxn modelId="{D8627AEE-6A65-45BF-8E86-B5A4EB7FE825}" srcId="{DA2CE218-46E0-46A6-B1FC-60822CEE985F}" destId="{E6F8755A-7E45-499A-B44F-46B05441A516}" srcOrd="0" destOrd="0" parTransId="{3BD3F5B7-F718-442E-B261-5727CEBFA873}" sibTransId="{3F678253-231C-45E7-8853-4767F8C6F88D}"/>
    <dgm:cxn modelId="{58BC6F8F-8F04-49E7-B225-F8BAE4693A07}" type="presParOf" srcId="{C343A080-541E-4FA3-8F1F-32292D9A056A}" destId="{2B9C05A3-13F0-4980-8DE7-E6EB9A50D73E}" srcOrd="0" destOrd="0" presId="urn:microsoft.com/office/officeart/2005/8/layout/vList2"/>
    <dgm:cxn modelId="{AC1715DE-C45A-435C-9064-7CC1AA162861}" type="presParOf" srcId="{C343A080-541E-4FA3-8F1F-32292D9A056A}" destId="{9BF50A5B-5C1D-457D-8A15-AFA8F3EFC1B4}" srcOrd="1" destOrd="0" presId="urn:microsoft.com/office/officeart/2005/8/layout/vList2"/>
    <dgm:cxn modelId="{95008975-6835-4873-85EE-F20C02ADDE8D}" type="presParOf" srcId="{C343A080-541E-4FA3-8F1F-32292D9A056A}" destId="{DDA87E09-200A-4C1E-BD6C-FAD4789DB717}" srcOrd="2" destOrd="0" presId="urn:microsoft.com/office/officeart/2005/8/layout/vList2"/>
    <dgm:cxn modelId="{84CE9DAB-E0B2-473E-83C4-72AA64E56857}" type="presParOf" srcId="{C343A080-541E-4FA3-8F1F-32292D9A056A}" destId="{57E30918-2806-409A-8457-6EDD3FF1F191}" srcOrd="3" destOrd="0" presId="urn:microsoft.com/office/officeart/2005/8/layout/vList2"/>
    <dgm:cxn modelId="{F9330CAA-1983-4F78-9FDE-CE1A5CC88A57}" type="presParOf" srcId="{C343A080-541E-4FA3-8F1F-32292D9A056A}" destId="{AA4870F8-7446-4773-800A-5323F8244A0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3845494-277B-46CC-887C-F307415816EB}" type="doc">
      <dgm:prSet loTypeId="urn:microsoft.com/office/officeart/2005/8/layout/h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D551CAD-6EC5-445C-8772-0179E67509E4}">
      <dgm:prSet/>
      <dgm:spPr/>
      <dgm:t>
        <a:bodyPr/>
        <a:lstStyle/>
        <a:p>
          <a:pPr>
            <a:defRPr b="1"/>
          </a:pPr>
          <a:r>
            <a:rPr lang="en-US" b="1"/>
            <a:t>Trend: Digital Twins. </a:t>
          </a:r>
          <a:r>
            <a:rPr lang="en-US" b="0"/>
            <a:t>Moving toward simulating an entire human body’s reaction to therapy.</a:t>
          </a:r>
        </a:p>
      </dgm:t>
    </dgm:pt>
    <dgm:pt modelId="{5B6A06DF-6971-48C5-924F-E4B90B1D0245}" type="parTrans" cxnId="{8D417774-D63D-4150-AD37-1586373A17C5}">
      <dgm:prSet/>
      <dgm:spPr/>
      <dgm:t>
        <a:bodyPr/>
        <a:lstStyle/>
        <a:p>
          <a:endParaRPr lang="en-US"/>
        </a:p>
      </dgm:t>
    </dgm:pt>
    <dgm:pt modelId="{21A0C651-C24E-499B-A93A-7274CA2FC14E}" type="sibTrans" cxnId="{8D417774-D63D-4150-AD37-1586373A17C5}">
      <dgm:prSet/>
      <dgm:spPr/>
      <dgm:t>
        <a:bodyPr/>
        <a:lstStyle/>
        <a:p>
          <a:endParaRPr lang="en-US"/>
        </a:p>
      </dgm:t>
    </dgm:pt>
    <dgm:pt modelId="{E3ABBD6D-5A72-4167-8D04-50BD8B4CB1CF}">
      <dgm:prSet/>
      <dgm:spPr/>
      <dgm:t>
        <a:bodyPr/>
        <a:lstStyle/>
        <a:p>
          <a:pPr>
            <a:defRPr b="1"/>
          </a:pPr>
          <a:r>
            <a:rPr lang="en-US" b="1"/>
            <a:t>Recommendations:</a:t>
          </a:r>
          <a:endParaRPr lang="en-US"/>
        </a:p>
      </dgm:t>
    </dgm:pt>
    <dgm:pt modelId="{6809AB9A-312B-4B61-B701-D5FA00935456}" type="parTrans" cxnId="{7390BC61-AFF0-4323-9BC2-AEBB651AB278}">
      <dgm:prSet/>
      <dgm:spPr/>
      <dgm:t>
        <a:bodyPr/>
        <a:lstStyle/>
        <a:p>
          <a:endParaRPr lang="en-US"/>
        </a:p>
      </dgm:t>
    </dgm:pt>
    <dgm:pt modelId="{A05F0448-8C02-4621-ADAE-3780DDDA4A02}" type="sibTrans" cxnId="{7390BC61-AFF0-4323-9BC2-AEBB651AB278}">
      <dgm:prSet/>
      <dgm:spPr/>
      <dgm:t>
        <a:bodyPr/>
        <a:lstStyle/>
        <a:p>
          <a:endParaRPr lang="en-US"/>
        </a:p>
      </dgm:t>
    </dgm:pt>
    <dgm:pt modelId="{D959C89C-ADF7-4B0B-9C58-093113D7AFD3}">
      <dgm:prSet/>
      <dgm:spPr/>
      <dgm:t>
        <a:bodyPr/>
        <a:lstStyle/>
        <a:p>
          <a:r>
            <a:rPr lang="en-US" b="1" dirty="0"/>
            <a:t>Continuous Audit: </a:t>
          </a:r>
          <a:r>
            <a:rPr lang="en-US" dirty="0"/>
            <a:t>AI models change over time; they need "monthly check-ups" to ensure they haven't developed new biases.</a:t>
          </a:r>
        </a:p>
      </dgm:t>
    </dgm:pt>
    <dgm:pt modelId="{ED3CF9FC-8E5A-4495-9482-79CE242261A7}" type="parTrans" cxnId="{F5DA6A5F-7E47-43C1-95AA-D6FADD597596}">
      <dgm:prSet/>
      <dgm:spPr/>
      <dgm:t>
        <a:bodyPr/>
        <a:lstStyle/>
        <a:p>
          <a:endParaRPr lang="en-US"/>
        </a:p>
      </dgm:t>
    </dgm:pt>
    <dgm:pt modelId="{0E57F42B-6BEB-4D6C-9E0E-E9DB909CE1EC}" type="sibTrans" cxnId="{F5DA6A5F-7E47-43C1-95AA-D6FADD597596}">
      <dgm:prSet/>
      <dgm:spPr/>
      <dgm:t>
        <a:bodyPr/>
        <a:lstStyle/>
        <a:p>
          <a:endParaRPr lang="en-US"/>
        </a:p>
      </dgm:t>
    </dgm:pt>
    <dgm:pt modelId="{461EA57F-A9F9-44F1-AD30-FC0E70EF6F46}">
      <dgm:prSet/>
      <dgm:spPr/>
      <dgm:t>
        <a:bodyPr/>
        <a:lstStyle/>
        <a:p>
          <a:r>
            <a:rPr lang="en-US" b="1"/>
            <a:t>Explainable AI: </a:t>
          </a:r>
          <a:r>
            <a:rPr lang="en-US"/>
            <a:t>Regulations should mandate that AI agents must provide a "Reasoning Trace" for every diagnosis.</a:t>
          </a:r>
        </a:p>
      </dgm:t>
    </dgm:pt>
    <dgm:pt modelId="{4C64A5CD-49C8-4FF6-97CE-8D392BC8A009}" type="parTrans" cxnId="{CBE1187F-C68C-4B9A-945B-2D0FD7C83731}">
      <dgm:prSet/>
      <dgm:spPr/>
      <dgm:t>
        <a:bodyPr/>
        <a:lstStyle/>
        <a:p>
          <a:endParaRPr lang="en-US"/>
        </a:p>
      </dgm:t>
    </dgm:pt>
    <dgm:pt modelId="{282A89C6-379A-4F5E-94F1-91E4295EFF1B}" type="sibTrans" cxnId="{CBE1187F-C68C-4B9A-945B-2D0FD7C83731}">
      <dgm:prSet/>
      <dgm:spPr/>
      <dgm:t>
        <a:bodyPr/>
        <a:lstStyle/>
        <a:p>
          <a:endParaRPr lang="en-US"/>
        </a:p>
      </dgm:t>
    </dgm:pt>
    <dgm:pt modelId="{2EF1945D-CEC2-4E96-8BCF-F5624C30644F}">
      <dgm:prSet/>
      <dgm:spPr/>
      <dgm:t>
        <a:bodyPr/>
        <a:lstStyle/>
        <a:p>
          <a:r>
            <a:rPr lang="en-US" b="1"/>
            <a:t>Governance:</a:t>
          </a:r>
          <a:r>
            <a:rPr lang="en-US"/>
            <a:t> Establish AI formularies to track which AI tools are approved for clinical use.</a:t>
          </a:r>
        </a:p>
      </dgm:t>
    </dgm:pt>
    <dgm:pt modelId="{5B4AE222-4C6D-474F-9A62-0236D2510D8A}" type="parTrans" cxnId="{0FC3A89C-536C-4784-BF15-1A5999A378C0}">
      <dgm:prSet/>
      <dgm:spPr/>
      <dgm:t>
        <a:bodyPr/>
        <a:lstStyle/>
        <a:p>
          <a:endParaRPr lang="en-US"/>
        </a:p>
      </dgm:t>
    </dgm:pt>
    <dgm:pt modelId="{96FBEB37-CD95-4C78-909E-DD7BE2D734E8}" type="sibTrans" cxnId="{0FC3A89C-536C-4784-BF15-1A5999A378C0}">
      <dgm:prSet/>
      <dgm:spPr/>
      <dgm:t>
        <a:bodyPr/>
        <a:lstStyle/>
        <a:p>
          <a:endParaRPr lang="en-US"/>
        </a:p>
      </dgm:t>
    </dgm:pt>
    <dgm:pt modelId="{D7576F5A-D314-457A-8A26-DD0504D4DB43}" type="pres">
      <dgm:prSet presAssocID="{23845494-277B-46CC-887C-F307415816EB}" presName="Name0" presStyleCnt="0">
        <dgm:presLayoutVars>
          <dgm:dir/>
          <dgm:animLvl val="lvl"/>
          <dgm:resizeHandles val="exact"/>
        </dgm:presLayoutVars>
      </dgm:prSet>
      <dgm:spPr/>
    </dgm:pt>
    <dgm:pt modelId="{8AEF1CB7-6A39-43B2-A95A-342295CD08DC}" type="pres">
      <dgm:prSet presAssocID="{DD551CAD-6EC5-445C-8772-0179E67509E4}" presName="composite" presStyleCnt="0"/>
      <dgm:spPr/>
    </dgm:pt>
    <dgm:pt modelId="{79F58CE2-44CD-4D81-BA0C-23DB9CC2916E}" type="pres">
      <dgm:prSet presAssocID="{DD551CAD-6EC5-445C-8772-0179E67509E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D2B8D85-7F03-4AD5-9BDC-3AE5226319D1}" type="pres">
      <dgm:prSet presAssocID="{DD551CAD-6EC5-445C-8772-0179E67509E4}" presName="desTx" presStyleLbl="alignAccFollowNode1" presStyleIdx="0" presStyleCnt="2">
        <dgm:presLayoutVars>
          <dgm:bulletEnabled val="1"/>
        </dgm:presLayoutVars>
      </dgm:prSet>
      <dgm:spPr/>
    </dgm:pt>
    <dgm:pt modelId="{37DAE2BD-1D08-4FD2-9DB3-366C24DA370A}" type="pres">
      <dgm:prSet presAssocID="{21A0C651-C24E-499B-A93A-7274CA2FC14E}" presName="space" presStyleCnt="0"/>
      <dgm:spPr/>
    </dgm:pt>
    <dgm:pt modelId="{BCA25D66-3CA4-4340-9220-65BDC4F1524E}" type="pres">
      <dgm:prSet presAssocID="{E3ABBD6D-5A72-4167-8D04-50BD8B4CB1CF}" presName="composite" presStyleCnt="0"/>
      <dgm:spPr/>
    </dgm:pt>
    <dgm:pt modelId="{5069488B-F917-4979-BB6E-D55FCE36A234}" type="pres">
      <dgm:prSet presAssocID="{E3ABBD6D-5A72-4167-8D04-50BD8B4CB1CF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6EC922B0-2301-4958-8974-5C897B92EE7C}" type="pres">
      <dgm:prSet presAssocID="{E3ABBD6D-5A72-4167-8D04-50BD8B4CB1CF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651F8111-6417-4310-973C-B2CD866BC57F}" type="presOf" srcId="{E3ABBD6D-5A72-4167-8D04-50BD8B4CB1CF}" destId="{5069488B-F917-4979-BB6E-D55FCE36A234}" srcOrd="0" destOrd="0" presId="urn:microsoft.com/office/officeart/2005/8/layout/hList1"/>
    <dgm:cxn modelId="{D730A334-EAB5-461E-BCF9-FB0A039A3EA1}" type="presOf" srcId="{D959C89C-ADF7-4B0B-9C58-093113D7AFD3}" destId="{6EC922B0-2301-4958-8974-5C897B92EE7C}" srcOrd="0" destOrd="0" presId="urn:microsoft.com/office/officeart/2005/8/layout/hList1"/>
    <dgm:cxn modelId="{F5DA6A5F-7E47-43C1-95AA-D6FADD597596}" srcId="{E3ABBD6D-5A72-4167-8D04-50BD8B4CB1CF}" destId="{D959C89C-ADF7-4B0B-9C58-093113D7AFD3}" srcOrd="0" destOrd="0" parTransId="{ED3CF9FC-8E5A-4495-9482-79CE242261A7}" sibTransId="{0E57F42B-6BEB-4D6C-9E0E-E9DB909CE1EC}"/>
    <dgm:cxn modelId="{7390BC61-AFF0-4323-9BC2-AEBB651AB278}" srcId="{23845494-277B-46CC-887C-F307415816EB}" destId="{E3ABBD6D-5A72-4167-8D04-50BD8B4CB1CF}" srcOrd="1" destOrd="0" parTransId="{6809AB9A-312B-4B61-B701-D5FA00935456}" sibTransId="{A05F0448-8C02-4621-ADAE-3780DDDA4A02}"/>
    <dgm:cxn modelId="{8D417774-D63D-4150-AD37-1586373A17C5}" srcId="{23845494-277B-46CC-887C-F307415816EB}" destId="{DD551CAD-6EC5-445C-8772-0179E67509E4}" srcOrd="0" destOrd="0" parTransId="{5B6A06DF-6971-48C5-924F-E4B90B1D0245}" sibTransId="{21A0C651-C24E-499B-A93A-7274CA2FC14E}"/>
    <dgm:cxn modelId="{CBE1187F-C68C-4B9A-945B-2D0FD7C83731}" srcId="{E3ABBD6D-5A72-4167-8D04-50BD8B4CB1CF}" destId="{461EA57F-A9F9-44F1-AD30-FC0E70EF6F46}" srcOrd="1" destOrd="0" parTransId="{4C64A5CD-49C8-4FF6-97CE-8D392BC8A009}" sibTransId="{282A89C6-379A-4F5E-94F1-91E4295EFF1B}"/>
    <dgm:cxn modelId="{BFF05488-2187-4570-B42A-D47E4AC50DF6}" type="presOf" srcId="{DD551CAD-6EC5-445C-8772-0179E67509E4}" destId="{79F58CE2-44CD-4D81-BA0C-23DB9CC2916E}" srcOrd="0" destOrd="0" presId="urn:microsoft.com/office/officeart/2005/8/layout/hList1"/>
    <dgm:cxn modelId="{0FC3A89C-536C-4784-BF15-1A5999A378C0}" srcId="{E3ABBD6D-5A72-4167-8D04-50BD8B4CB1CF}" destId="{2EF1945D-CEC2-4E96-8BCF-F5624C30644F}" srcOrd="2" destOrd="0" parTransId="{5B4AE222-4C6D-474F-9A62-0236D2510D8A}" sibTransId="{96FBEB37-CD95-4C78-909E-DD7BE2D734E8}"/>
    <dgm:cxn modelId="{BECD53C6-FCA1-40F7-A423-CEA9B58727D8}" type="presOf" srcId="{461EA57F-A9F9-44F1-AD30-FC0E70EF6F46}" destId="{6EC922B0-2301-4958-8974-5C897B92EE7C}" srcOrd="0" destOrd="1" presId="urn:microsoft.com/office/officeart/2005/8/layout/hList1"/>
    <dgm:cxn modelId="{550F21E6-DECB-4F1B-967C-81C0CB47FD50}" type="presOf" srcId="{23845494-277B-46CC-887C-F307415816EB}" destId="{D7576F5A-D314-457A-8A26-DD0504D4DB43}" srcOrd="0" destOrd="0" presId="urn:microsoft.com/office/officeart/2005/8/layout/hList1"/>
    <dgm:cxn modelId="{FD4AEBFB-5C87-443E-88C1-B5D28E60FB72}" type="presOf" srcId="{2EF1945D-CEC2-4E96-8BCF-F5624C30644F}" destId="{6EC922B0-2301-4958-8974-5C897B92EE7C}" srcOrd="0" destOrd="2" presId="urn:microsoft.com/office/officeart/2005/8/layout/hList1"/>
    <dgm:cxn modelId="{661007E8-6AA4-41B9-9675-71A6A9858906}" type="presParOf" srcId="{D7576F5A-D314-457A-8A26-DD0504D4DB43}" destId="{8AEF1CB7-6A39-43B2-A95A-342295CD08DC}" srcOrd="0" destOrd="0" presId="urn:microsoft.com/office/officeart/2005/8/layout/hList1"/>
    <dgm:cxn modelId="{AB91B636-0356-47AB-B4F3-6B1E7904132D}" type="presParOf" srcId="{8AEF1CB7-6A39-43B2-A95A-342295CD08DC}" destId="{79F58CE2-44CD-4D81-BA0C-23DB9CC2916E}" srcOrd="0" destOrd="0" presId="urn:microsoft.com/office/officeart/2005/8/layout/hList1"/>
    <dgm:cxn modelId="{DFD875F0-629A-409E-A311-78CA308D9F48}" type="presParOf" srcId="{8AEF1CB7-6A39-43B2-A95A-342295CD08DC}" destId="{1D2B8D85-7F03-4AD5-9BDC-3AE5226319D1}" srcOrd="1" destOrd="0" presId="urn:microsoft.com/office/officeart/2005/8/layout/hList1"/>
    <dgm:cxn modelId="{2CD06F73-EEFB-41B6-9AB3-A7B71B6CBB5E}" type="presParOf" srcId="{D7576F5A-D314-457A-8A26-DD0504D4DB43}" destId="{37DAE2BD-1D08-4FD2-9DB3-366C24DA370A}" srcOrd="1" destOrd="0" presId="urn:microsoft.com/office/officeart/2005/8/layout/hList1"/>
    <dgm:cxn modelId="{16770CE4-C214-4256-9D41-23DCA16B8C30}" type="presParOf" srcId="{D7576F5A-D314-457A-8A26-DD0504D4DB43}" destId="{BCA25D66-3CA4-4340-9220-65BDC4F1524E}" srcOrd="2" destOrd="0" presId="urn:microsoft.com/office/officeart/2005/8/layout/hList1"/>
    <dgm:cxn modelId="{F0D97EFD-DD8F-423D-BB14-A680B190E684}" type="presParOf" srcId="{BCA25D66-3CA4-4340-9220-65BDC4F1524E}" destId="{5069488B-F917-4979-BB6E-D55FCE36A234}" srcOrd="0" destOrd="0" presId="urn:microsoft.com/office/officeart/2005/8/layout/hList1"/>
    <dgm:cxn modelId="{E0764CD2-8603-4E5A-8C57-E4FF59851A28}" type="presParOf" srcId="{BCA25D66-3CA4-4340-9220-65BDC4F1524E}" destId="{6EC922B0-2301-4958-8974-5C897B92EE7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9E140A-01E3-40E4-A08C-BC11C8A049EC}">
      <dsp:nvSpPr>
        <dsp:cNvPr id="0" name=""/>
        <dsp:cNvSpPr/>
      </dsp:nvSpPr>
      <dsp:spPr>
        <a:xfrm>
          <a:off x="683905" y="250074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784982-1D34-44F0-968A-EA85AA2541D4}">
      <dsp:nvSpPr>
        <dsp:cNvPr id="0" name=""/>
        <dsp:cNvSpPr/>
      </dsp:nvSpPr>
      <dsp:spPr>
        <a:xfrm>
          <a:off x="109340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161EC-79CA-455D-8044-C21C84EC184E}">
      <dsp:nvSpPr>
        <dsp:cNvPr id="0" name=""/>
        <dsp:cNvSpPr/>
      </dsp:nvSpPr>
      <dsp:spPr>
        <a:xfrm>
          <a:off x="6965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b="1" kern="1200"/>
            <a:t>Organization:</a:t>
          </a:r>
          <a:r>
            <a:rPr lang="en-US" sz="1300" kern="1200"/>
            <a:t> Mayo Clinic Platform (MCP).</a:t>
          </a:r>
        </a:p>
      </dsp:txBody>
      <dsp:txXfrm>
        <a:off x="69655" y="2770075"/>
        <a:ext cx="3150000" cy="720000"/>
      </dsp:txXfrm>
    </dsp:sp>
    <dsp:sp modelId="{DCCF906C-DD19-40B5-A8B9-1D5674552148}">
      <dsp:nvSpPr>
        <dsp:cNvPr id="0" name=""/>
        <dsp:cNvSpPr/>
      </dsp:nvSpPr>
      <dsp:spPr>
        <a:xfrm>
          <a:off x="4385155" y="250074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67C92-0CF3-411C-B2CA-A7725E2DA7D4}">
      <dsp:nvSpPr>
        <dsp:cNvPr id="0" name=""/>
        <dsp:cNvSpPr/>
      </dsp:nvSpPr>
      <dsp:spPr>
        <a:xfrm>
          <a:off x="4794655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360B3-C90A-4230-8EE4-8AF092DA26FD}">
      <dsp:nvSpPr>
        <dsp:cNvPr id="0" name=""/>
        <dsp:cNvSpPr/>
      </dsp:nvSpPr>
      <dsp:spPr>
        <a:xfrm>
          <a:off x="3770905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Mayo has transitioned from a hospital system to a “Global AI Ecosystem.”</a:t>
          </a:r>
        </a:p>
      </dsp:txBody>
      <dsp:txXfrm>
        <a:off x="3770905" y="2770075"/>
        <a:ext cx="3150000" cy="720000"/>
      </dsp:txXfrm>
    </dsp:sp>
    <dsp:sp modelId="{BB38E9B4-FB7D-4B19-A60E-F123CAD1BDDE}">
      <dsp:nvSpPr>
        <dsp:cNvPr id="0" name=""/>
        <dsp:cNvSpPr/>
      </dsp:nvSpPr>
      <dsp:spPr>
        <a:xfrm>
          <a:off x="8086406" y="250074"/>
          <a:ext cx="1921500" cy="19215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CD7255-D64A-4724-A088-F50A7682C490}">
      <dsp:nvSpPr>
        <dsp:cNvPr id="0" name=""/>
        <dsp:cNvSpPr/>
      </dsp:nvSpPr>
      <dsp:spPr>
        <a:xfrm>
          <a:off x="8495906" y="659574"/>
          <a:ext cx="1102500" cy="1102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B967D7-BB8B-4888-A67C-BF917B75C475}">
      <dsp:nvSpPr>
        <dsp:cNvPr id="0" name=""/>
        <dsp:cNvSpPr/>
      </dsp:nvSpPr>
      <dsp:spPr>
        <a:xfrm>
          <a:off x="7472156" y="2770075"/>
          <a:ext cx="31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Recently announced a strategic R&amp;D collaboration with Merck to use multimodal AI for drug discovery.</a:t>
          </a:r>
        </a:p>
      </dsp:txBody>
      <dsp:txXfrm>
        <a:off x="7472156" y="2770075"/>
        <a:ext cx="315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AB88AB-454F-45AC-835D-C6D6BED79FE6}">
      <dsp:nvSpPr>
        <dsp:cNvPr id="0" name=""/>
        <dsp:cNvSpPr/>
      </dsp:nvSpPr>
      <dsp:spPr>
        <a:xfrm>
          <a:off x="0" y="48645"/>
          <a:ext cx="5715000" cy="17306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Multimodal Foundation Models:</a:t>
          </a:r>
          <a:r>
            <a:rPr lang="en-US" sz="2100" kern="1200"/>
            <a:t> AI that simultaneously processes genomics, pathology slides, and unstructured clinical notes.</a:t>
          </a:r>
        </a:p>
      </dsp:txBody>
      <dsp:txXfrm>
        <a:off x="84483" y="133128"/>
        <a:ext cx="5546034" cy="1561683"/>
      </dsp:txXfrm>
    </dsp:sp>
    <dsp:sp modelId="{CAF3EF33-BF52-4BD1-A4B5-D1DE0734FAC3}">
      <dsp:nvSpPr>
        <dsp:cNvPr id="0" name=""/>
        <dsp:cNvSpPr/>
      </dsp:nvSpPr>
      <dsp:spPr>
        <a:xfrm>
          <a:off x="0" y="1839775"/>
          <a:ext cx="5715000" cy="1730649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Agentic AI:</a:t>
          </a:r>
          <a:r>
            <a:rPr lang="en-US" sz="2100" kern="1200"/>
            <a:t> Unlike traditional AI, these "agents" can execute multi-step workflows—such as autonomously identifying a high-risk patient, drafting a referral, and flagging evidence gaps for regulatory submissions.</a:t>
          </a:r>
        </a:p>
      </dsp:txBody>
      <dsp:txXfrm>
        <a:off x="84483" y="1924258"/>
        <a:ext cx="5546034" cy="1561683"/>
      </dsp:txXfrm>
    </dsp:sp>
    <dsp:sp modelId="{4AF0DD01-6AA3-45A2-B72A-9CD841797801}">
      <dsp:nvSpPr>
        <dsp:cNvPr id="0" name=""/>
        <dsp:cNvSpPr/>
      </dsp:nvSpPr>
      <dsp:spPr>
        <a:xfrm>
          <a:off x="0" y="3630904"/>
          <a:ext cx="5715000" cy="1730649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Virtual Cell Technologies:</a:t>
          </a:r>
          <a:r>
            <a:rPr lang="en-US" sz="2100" kern="1200"/>
            <a:t> Computer-based models that simulate cellular behavior to predict drug efficacy before human trials.</a:t>
          </a:r>
        </a:p>
      </dsp:txBody>
      <dsp:txXfrm>
        <a:off x="84483" y="3715387"/>
        <a:ext cx="5546034" cy="15616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35B257-96D5-4A6B-8FBA-C86A5BF51F10}">
      <dsp:nvSpPr>
        <dsp:cNvPr id="0" name=""/>
        <dsp:cNvSpPr/>
      </dsp:nvSpPr>
      <dsp:spPr>
        <a:xfrm>
          <a:off x="0" y="297689"/>
          <a:ext cx="5715000" cy="15607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Data Behind Glass: </a:t>
          </a:r>
          <a:r>
            <a:rPr lang="en-US" sz="2300" kern="1200"/>
            <a:t>A privacy-preserving environment where external partners access de-identified data without the data ever leaving Mayo’s secure cloud.</a:t>
          </a:r>
        </a:p>
      </dsp:txBody>
      <dsp:txXfrm>
        <a:off x="76191" y="373880"/>
        <a:ext cx="5562618" cy="1408398"/>
      </dsp:txXfrm>
    </dsp:sp>
    <dsp:sp modelId="{3BDB05FA-D65A-4EA6-A573-2A0C1E102691}">
      <dsp:nvSpPr>
        <dsp:cNvPr id="0" name=""/>
        <dsp:cNvSpPr/>
      </dsp:nvSpPr>
      <dsp:spPr>
        <a:xfrm>
          <a:off x="0" y="1924710"/>
          <a:ext cx="5715000" cy="156078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Ambient Clinical Listening: </a:t>
          </a:r>
          <a:r>
            <a:rPr lang="en-US" sz="2300" kern="1200"/>
            <a:t>Implementation of AI that listens to patient encounters, auto-populates EHRs to reduce clinical burnout by 40%.</a:t>
          </a:r>
        </a:p>
      </dsp:txBody>
      <dsp:txXfrm>
        <a:off x="76191" y="2000901"/>
        <a:ext cx="5562618" cy="1408398"/>
      </dsp:txXfrm>
    </dsp:sp>
    <dsp:sp modelId="{504119CC-17AA-4070-9670-B5016A9DE410}">
      <dsp:nvSpPr>
        <dsp:cNvPr id="0" name=""/>
        <dsp:cNvSpPr/>
      </dsp:nvSpPr>
      <dsp:spPr>
        <a:xfrm>
          <a:off x="0" y="3551730"/>
          <a:ext cx="5715000" cy="156078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Solution Orchestrator:</a:t>
          </a:r>
          <a:r>
            <a:rPr lang="en-US" sz="2300" kern="1200"/>
            <a:t> Deploying qualified AI models instantly across its global network of 70+ partner hospitals.</a:t>
          </a:r>
        </a:p>
      </dsp:txBody>
      <dsp:txXfrm>
        <a:off x="76191" y="3627921"/>
        <a:ext cx="5562618" cy="14083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D8B7D-9363-494A-A207-43F7C7CC4FFD}">
      <dsp:nvSpPr>
        <dsp:cNvPr id="0" name=""/>
        <dsp:cNvSpPr/>
      </dsp:nvSpPr>
      <dsp:spPr>
        <a:xfrm>
          <a:off x="0" y="472478"/>
          <a:ext cx="5715000" cy="14480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Disease Interception: </a:t>
          </a:r>
          <a:r>
            <a:rPr lang="en-US" sz="2100" kern="1200"/>
            <a:t>AI now identifies risks for pancreatic cancer and heart failure up to 5 years before symptoms appear.</a:t>
          </a:r>
        </a:p>
      </dsp:txBody>
      <dsp:txXfrm>
        <a:off x="70690" y="543168"/>
        <a:ext cx="5573620" cy="1306714"/>
      </dsp:txXfrm>
    </dsp:sp>
    <dsp:sp modelId="{A3FCCAD4-BFBC-4048-8234-9DEFE3747615}">
      <dsp:nvSpPr>
        <dsp:cNvPr id="0" name=""/>
        <dsp:cNvSpPr/>
      </dsp:nvSpPr>
      <dsp:spPr>
        <a:xfrm>
          <a:off x="0" y="1981052"/>
          <a:ext cx="5715000" cy="1448094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Drug Discovery: </a:t>
          </a:r>
          <a:r>
            <a:rPr lang="en-US" sz="2100" kern="1200"/>
            <a:t>The Merck partnership aims to accelerate treatment for multiple sclerosis and inflammatory bowel disease by identifying biologically defined patient subgroups.</a:t>
          </a:r>
        </a:p>
      </dsp:txBody>
      <dsp:txXfrm>
        <a:off x="70690" y="2051742"/>
        <a:ext cx="5573620" cy="1306714"/>
      </dsp:txXfrm>
    </dsp:sp>
    <dsp:sp modelId="{56A79E55-AA90-41BC-802C-CAD0307CDA38}">
      <dsp:nvSpPr>
        <dsp:cNvPr id="0" name=""/>
        <dsp:cNvSpPr/>
      </dsp:nvSpPr>
      <dsp:spPr>
        <a:xfrm>
          <a:off x="0" y="3489627"/>
          <a:ext cx="5715000" cy="1448094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Storke Care: </a:t>
          </a:r>
          <a:r>
            <a:rPr lang="en-US" sz="2100" kern="1200"/>
            <a:t>Real-world data from the connected network has expanded life-saving stroke protocols to rural Missouri and international sites like Bazil and Israel.</a:t>
          </a:r>
        </a:p>
      </dsp:txBody>
      <dsp:txXfrm>
        <a:off x="70690" y="3560317"/>
        <a:ext cx="5573620" cy="13067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C7735-78D7-4ACA-8C25-22FB144DB607}">
      <dsp:nvSpPr>
        <dsp:cNvPr id="0" name=""/>
        <dsp:cNvSpPr/>
      </dsp:nvSpPr>
      <dsp:spPr>
        <a:xfrm>
          <a:off x="0" y="671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17E7CA-8ACC-47EF-B071-2270228028A8}">
      <dsp:nvSpPr>
        <dsp:cNvPr id="0" name=""/>
        <dsp:cNvSpPr/>
      </dsp:nvSpPr>
      <dsp:spPr>
        <a:xfrm>
          <a:off x="475163" y="354098"/>
          <a:ext cx="863933" cy="8639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02C057-1F7E-4EE8-94FE-0DD5D1B258C5}">
      <dsp:nvSpPr>
        <dsp:cNvPr id="0" name=""/>
        <dsp:cNvSpPr/>
      </dsp:nvSpPr>
      <dsp:spPr>
        <a:xfrm>
          <a:off x="1814259" y="671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Algorithmic Hallucinations: </a:t>
          </a:r>
          <a:r>
            <a:rPr lang="en-US" sz="2200" kern="1200"/>
            <a:t>LLMs sometimes fabricate medical citations, requiring a strict verification process.</a:t>
          </a:r>
        </a:p>
      </dsp:txBody>
      <dsp:txXfrm>
        <a:off x="1814259" y="671"/>
        <a:ext cx="4357688" cy="1570787"/>
      </dsp:txXfrm>
    </dsp:sp>
    <dsp:sp modelId="{4B946E14-C38A-4FD9-8BE7-975762935A8A}">
      <dsp:nvSpPr>
        <dsp:cNvPr id="0" name=""/>
        <dsp:cNvSpPr/>
      </dsp:nvSpPr>
      <dsp:spPr>
        <a:xfrm>
          <a:off x="0" y="1964156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D94613-4DA9-4066-B56C-C7C70DEB279D}">
      <dsp:nvSpPr>
        <dsp:cNvPr id="0" name=""/>
        <dsp:cNvSpPr/>
      </dsp:nvSpPr>
      <dsp:spPr>
        <a:xfrm>
          <a:off x="475163" y="2317583"/>
          <a:ext cx="863933" cy="8639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C129B-A02F-4874-918E-D31E425EB4E2}">
      <dsp:nvSpPr>
        <dsp:cNvPr id="0" name=""/>
        <dsp:cNvSpPr/>
      </dsp:nvSpPr>
      <dsp:spPr>
        <a:xfrm>
          <a:off x="1814259" y="1964156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Data Heterogeneity:</a:t>
          </a:r>
          <a:r>
            <a:rPr lang="en-US" sz="2200" kern="1200"/>
            <a:t> Combining data from one hospital with another requires massive efforts in data standardization.</a:t>
          </a:r>
        </a:p>
      </dsp:txBody>
      <dsp:txXfrm>
        <a:off x="1814259" y="1964156"/>
        <a:ext cx="4357688" cy="1570787"/>
      </dsp:txXfrm>
    </dsp:sp>
    <dsp:sp modelId="{E0781E74-A9FF-45E3-93C6-B37BCEC3D01B}">
      <dsp:nvSpPr>
        <dsp:cNvPr id="0" name=""/>
        <dsp:cNvSpPr/>
      </dsp:nvSpPr>
      <dsp:spPr>
        <a:xfrm>
          <a:off x="0" y="3927640"/>
          <a:ext cx="6171948" cy="157078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814C4A-5957-41A5-B837-A3AA88779883}">
      <dsp:nvSpPr>
        <dsp:cNvPr id="0" name=""/>
        <dsp:cNvSpPr/>
      </dsp:nvSpPr>
      <dsp:spPr>
        <a:xfrm>
          <a:off x="475163" y="4281068"/>
          <a:ext cx="863933" cy="8639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6131F-3785-4AE6-8A32-B259C9EBF5FE}">
      <dsp:nvSpPr>
        <dsp:cNvPr id="0" name=""/>
        <dsp:cNvSpPr/>
      </dsp:nvSpPr>
      <dsp:spPr>
        <a:xfrm>
          <a:off x="1814259" y="3927640"/>
          <a:ext cx="4357688" cy="15707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242" tIns="166242" rIns="166242" bIns="166242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“Trust Gap”:</a:t>
          </a:r>
          <a:r>
            <a:rPr lang="en-US" sz="2200" kern="1200"/>
            <a:t> Older clinicians often resist AI-driven interventions that contradict traditional diagnostic heuristics.</a:t>
          </a:r>
        </a:p>
      </dsp:txBody>
      <dsp:txXfrm>
        <a:off x="1814259" y="3927640"/>
        <a:ext cx="4357688" cy="15707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51AAA4-4578-49F9-939D-A74E1CC13D7A}">
      <dsp:nvSpPr>
        <dsp:cNvPr id="0" name=""/>
        <dsp:cNvSpPr/>
      </dsp:nvSpPr>
      <dsp:spPr>
        <a:xfrm>
          <a:off x="2396" y="260203"/>
          <a:ext cx="2569647" cy="1284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Justice:</a:t>
          </a:r>
          <a:r>
            <a:rPr lang="en-US" sz="1500" kern="1200"/>
            <a:t> Will high-end AI only be for those who can afford Mayo-tier healthcare?</a:t>
          </a:r>
        </a:p>
      </dsp:txBody>
      <dsp:txXfrm>
        <a:off x="40027" y="297834"/>
        <a:ext cx="2494385" cy="1209561"/>
      </dsp:txXfrm>
    </dsp:sp>
    <dsp:sp modelId="{47C4FD19-E915-4E5C-BCF1-FBF3871097FF}">
      <dsp:nvSpPr>
        <dsp:cNvPr id="0" name=""/>
        <dsp:cNvSpPr/>
      </dsp:nvSpPr>
      <dsp:spPr>
        <a:xfrm>
          <a:off x="2396" y="1737751"/>
          <a:ext cx="2569647" cy="1284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Autonomy vs. Paternalism:</a:t>
          </a:r>
          <a:r>
            <a:rPr lang="en-US" sz="1500" kern="1200"/>
            <a:t> If an AI “agent” chooses a treatment path, is the patient truly giving informed consent if the logic is a black box?</a:t>
          </a:r>
        </a:p>
      </dsp:txBody>
      <dsp:txXfrm>
        <a:off x="40027" y="1775382"/>
        <a:ext cx="2494385" cy="1209561"/>
      </dsp:txXfrm>
    </dsp:sp>
    <dsp:sp modelId="{8337CBBB-9D4A-42A2-BD83-9429615AADA8}">
      <dsp:nvSpPr>
        <dsp:cNvPr id="0" name=""/>
        <dsp:cNvSpPr/>
      </dsp:nvSpPr>
      <dsp:spPr>
        <a:xfrm>
          <a:off x="2396" y="3215298"/>
          <a:ext cx="2569647" cy="128482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Philosophical lens:</a:t>
          </a:r>
          <a:r>
            <a:rPr lang="en-US" sz="1500" kern="1200"/>
            <a:t> </a:t>
          </a:r>
        </a:p>
      </dsp:txBody>
      <dsp:txXfrm>
        <a:off x="40027" y="3252929"/>
        <a:ext cx="2494385" cy="1209561"/>
      </dsp:txXfrm>
    </dsp:sp>
    <dsp:sp modelId="{67670EEC-84DC-41A2-B458-D8C8754E1084}">
      <dsp:nvSpPr>
        <dsp:cNvPr id="0" name=""/>
        <dsp:cNvSpPr/>
      </dsp:nvSpPr>
      <dsp:spPr>
        <a:xfrm rot="19457599">
          <a:off x="2453067" y="3467295"/>
          <a:ext cx="1265812" cy="42055"/>
        </a:xfrm>
        <a:custGeom>
          <a:avLst/>
          <a:gdLst/>
          <a:ahLst/>
          <a:cxnLst/>
          <a:rect l="0" t="0" r="0" b="0"/>
          <a:pathLst>
            <a:path>
              <a:moveTo>
                <a:pt x="0" y="21027"/>
              </a:moveTo>
              <a:lnTo>
                <a:pt x="1265812" y="2102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4328" y="3456678"/>
        <a:ext cx="63290" cy="63290"/>
      </dsp:txXfrm>
    </dsp:sp>
    <dsp:sp modelId="{3B0B3C08-022B-45AC-AFEA-31088F31E936}">
      <dsp:nvSpPr>
        <dsp:cNvPr id="0" name=""/>
        <dsp:cNvSpPr/>
      </dsp:nvSpPr>
      <dsp:spPr>
        <a:xfrm>
          <a:off x="3599903" y="2476524"/>
          <a:ext cx="2569647" cy="12848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Utilitarianism: Is a 1% error rate in AI acceptable if it reduces overall medical errors by 50%?</a:t>
          </a:r>
        </a:p>
      </dsp:txBody>
      <dsp:txXfrm>
        <a:off x="3637534" y="2514155"/>
        <a:ext cx="2494385" cy="1209561"/>
      </dsp:txXfrm>
    </dsp:sp>
    <dsp:sp modelId="{4815123F-4011-401B-AF0E-79E887571BE2}">
      <dsp:nvSpPr>
        <dsp:cNvPr id="0" name=""/>
        <dsp:cNvSpPr/>
      </dsp:nvSpPr>
      <dsp:spPr>
        <a:xfrm rot="2142401">
          <a:off x="2453067" y="4206069"/>
          <a:ext cx="1265812" cy="42055"/>
        </a:xfrm>
        <a:custGeom>
          <a:avLst/>
          <a:gdLst/>
          <a:ahLst/>
          <a:cxnLst/>
          <a:rect l="0" t="0" r="0" b="0"/>
          <a:pathLst>
            <a:path>
              <a:moveTo>
                <a:pt x="0" y="21027"/>
              </a:moveTo>
              <a:lnTo>
                <a:pt x="1265812" y="21027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054328" y="4195452"/>
        <a:ext cx="63290" cy="63290"/>
      </dsp:txXfrm>
    </dsp:sp>
    <dsp:sp modelId="{32448252-8BBC-4273-90E1-EA870BAB9B59}">
      <dsp:nvSpPr>
        <dsp:cNvPr id="0" name=""/>
        <dsp:cNvSpPr/>
      </dsp:nvSpPr>
      <dsp:spPr>
        <a:xfrm>
          <a:off x="3599903" y="3954072"/>
          <a:ext cx="2569647" cy="128482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Virtue Ethics: Maintaining the human touch in a digitized medical relationship.</a:t>
          </a:r>
        </a:p>
      </dsp:txBody>
      <dsp:txXfrm>
        <a:off x="3637534" y="3991703"/>
        <a:ext cx="2494385" cy="120956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9C05A3-13F0-4980-8DE7-E6EB9A50D73E}">
      <dsp:nvSpPr>
        <dsp:cNvPr id="0" name=""/>
        <dsp:cNvSpPr/>
      </dsp:nvSpPr>
      <dsp:spPr>
        <a:xfrm>
          <a:off x="0" y="132799"/>
          <a:ext cx="6171948" cy="1696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Positive:</a:t>
          </a:r>
          <a:r>
            <a:rPr lang="en-US" sz="2500" kern="1200"/>
            <a:t> Democratization of expert care. A local GP in a rural town can now access "Mayo-level" diagnostic intelligence through the platform.</a:t>
          </a:r>
        </a:p>
      </dsp:txBody>
      <dsp:txXfrm>
        <a:off x="82816" y="215615"/>
        <a:ext cx="6006316" cy="1530868"/>
      </dsp:txXfrm>
    </dsp:sp>
    <dsp:sp modelId="{DDA87E09-200A-4C1E-BD6C-FAD4789DB717}">
      <dsp:nvSpPr>
        <dsp:cNvPr id="0" name=""/>
        <dsp:cNvSpPr/>
      </dsp:nvSpPr>
      <dsp:spPr>
        <a:xfrm>
          <a:off x="0" y="1901299"/>
          <a:ext cx="6171948" cy="169650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Negative:</a:t>
          </a:r>
          <a:r>
            <a:rPr lang="en-US" sz="2500" kern="1200"/>
            <a:t> </a:t>
          </a:r>
          <a:r>
            <a:rPr lang="en-US" sz="2500" b="1" kern="1200"/>
            <a:t>Deskilling.</a:t>
          </a:r>
          <a:r>
            <a:rPr lang="en-US" sz="2500" kern="1200"/>
            <a:t> New doctors in 2026 may become over-reliant on AI summaries, losing the critical thinking skills needed when the system goes down.</a:t>
          </a:r>
        </a:p>
      </dsp:txBody>
      <dsp:txXfrm>
        <a:off x="82816" y="1984115"/>
        <a:ext cx="6006316" cy="1530868"/>
      </dsp:txXfrm>
    </dsp:sp>
    <dsp:sp modelId="{AA4870F8-7446-4773-800A-5323F8244A07}">
      <dsp:nvSpPr>
        <dsp:cNvPr id="0" name=""/>
        <dsp:cNvSpPr/>
      </dsp:nvSpPr>
      <dsp:spPr>
        <a:xfrm>
          <a:off x="0" y="3669800"/>
          <a:ext cx="6171948" cy="16965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Global Reach:</a:t>
          </a:r>
          <a:r>
            <a:rPr lang="en-US" sz="2500" kern="1200"/>
            <a:t> The expansion of the Connect network to three continents is creating the first truly global health data set.</a:t>
          </a:r>
        </a:p>
      </dsp:txBody>
      <dsp:txXfrm>
        <a:off x="82816" y="3752616"/>
        <a:ext cx="6006316" cy="153086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F58CE2-44CD-4D81-BA0C-23DB9CC2916E}">
      <dsp:nvSpPr>
        <dsp:cNvPr id="0" name=""/>
        <dsp:cNvSpPr/>
      </dsp:nvSpPr>
      <dsp:spPr>
        <a:xfrm>
          <a:off x="52" y="62440"/>
          <a:ext cx="4996125" cy="95536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Trend: Digital Twins. </a:t>
          </a:r>
          <a:r>
            <a:rPr lang="en-US" sz="1900" b="0" kern="1200"/>
            <a:t>Moving toward simulating an entire human body’s reaction to therapy.</a:t>
          </a:r>
        </a:p>
      </dsp:txBody>
      <dsp:txXfrm>
        <a:off x="52" y="62440"/>
        <a:ext cx="4996125" cy="955364"/>
      </dsp:txXfrm>
    </dsp:sp>
    <dsp:sp modelId="{1D2B8D85-7F03-4AD5-9BDC-3AE5226319D1}">
      <dsp:nvSpPr>
        <dsp:cNvPr id="0" name=""/>
        <dsp:cNvSpPr/>
      </dsp:nvSpPr>
      <dsp:spPr>
        <a:xfrm>
          <a:off x="52" y="1017804"/>
          <a:ext cx="4996125" cy="26599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69488B-F917-4979-BB6E-D55FCE36A234}">
      <dsp:nvSpPr>
        <dsp:cNvPr id="0" name=""/>
        <dsp:cNvSpPr/>
      </dsp:nvSpPr>
      <dsp:spPr>
        <a:xfrm>
          <a:off x="5695634" y="62440"/>
          <a:ext cx="4996125" cy="95536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77216" rIns="135128" bIns="77216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b="1" kern="1200"/>
            <a:t>Recommendations:</a:t>
          </a:r>
          <a:endParaRPr lang="en-US" sz="1900" kern="1200"/>
        </a:p>
      </dsp:txBody>
      <dsp:txXfrm>
        <a:off x="5695634" y="62440"/>
        <a:ext cx="4996125" cy="955364"/>
      </dsp:txXfrm>
    </dsp:sp>
    <dsp:sp modelId="{6EC922B0-2301-4958-8974-5C897B92EE7C}">
      <dsp:nvSpPr>
        <dsp:cNvPr id="0" name=""/>
        <dsp:cNvSpPr/>
      </dsp:nvSpPr>
      <dsp:spPr>
        <a:xfrm>
          <a:off x="5695634" y="1017804"/>
          <a:ext cx="4996125" cy="265990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 dirty="0"/>
            <a:t>Continuous Audit: </a:t>
          </a:r>
          <a:r>
            <a:rPr lang="en-US" sz="1900" kern="1200" dirty="0"/>
            <a:t>AI models change over time; they need "monthly check-ups" to ensure they haven't developed new biases.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/>
            <a:t>Explainable AI: </a:t>
          </a:r>
          <a:r>
            <a:rPr lang="en-US" sz="1900" kern="1200"/>
            <a:t>Regulations should mandate that AI agents must provide a "Reasoning Trace" for every diagnosis.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/>
            <a:t>Governance:</a:t>
          </a:r>
          <a:r>
            <a:rPr lang="en-US" sz="1900" kern="1200"/>
            <a:t> Establish AI formularies to track which AI tools are approved for clinical use.</a:t>
          </a:r>
        </a:p>
      </dsp:txBody>
      <dsp:txXfrm>
        <a:off x="5695634" y="1017804"/>
        <a:ext cx="4996125" cy="26599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08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1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369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383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2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664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84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3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43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595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96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08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16B01-364E-20ED-09D0-4ED799015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The Future of Precision Medicine: Mayo Clinic’s AI Evolution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BB595-EF2C-5167-EF2F-DFE29DB03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en-US" dirty="0"/>
              <a:t>Moving from Predictive Analytics to Agentic Clinical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86D1A0-D986-30AB-5CD8-E3ADF50B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25" r="29464" b="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8CA82A0-C190-66E2-65E0-8A71D94B27DF}"/>
              </a:ext>
            </a:extLst>
          </p:cNvPr>
          <p:cNvSpPr txBox="1"/>
          <p:nvPr/>
        </p:nvSpPr>
        <p:spPr>
          <a:xfrm>
            <a:off x="5604552" y="6134100"/>
            <a:ext cx="1867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By: Jesus Chavez</a:t>
            </a:r>
          </a:p>
        </p:txBody>
      </p:sp>
    </p:spTree>
    <p:extLst>
      <p:ext uri="{BB962C8B-B14F-4D97-AF65-F5344CB8AC3E}">
        <p14:creationId xmlns:p14="http://schemas.microsoft.com/office/powerpoint/2010/main" val="394646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00C11-C14F-F531-F736-84CB5491A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/>
              <a:t>Case Study Selection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D20CB1BC-AF42-D0FE-94F8-072855114E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657269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3709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EF3467-B15D-A2F8-797A-D6D686D2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 dirty="0"/>
              <a:t>Description of the Technology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ext Placeholder 3">
            <a:extLst>
              <a:ext uri="{FF2B5EF4-FFF2-40B4-BE49-F238E27FC236}">
                <a16:creationId xmlns:a16="http://schemas.microsoft.com/office/drawing/2014/main" id="{4864EF17-0DD9-DE3B-7417-15CB13E3F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1208868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74878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7A192-7681-5CEC-5D7C-94F0338C1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 sz="3400"/>
              <a:t>Implementation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DC18E6DF-A2E9-64B0-A036-61E810E3C2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1582512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00762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233ABC-702A-9A36-1A3B-61EBB2F49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en-US" sz="3700"/>
              <a:t>Key Benefits &amp; Improvements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ext Placeholder 3">
            <a:extLst>
              <a:ext uri="{FF2B5EF4-FFF2-40B4-BE49-F238E27FC236}">
                <a16:creationId xmlns:a16="http://schemas.microsoft.com/office/drawing/2014/main" id="{6B178461-6A2A-7802-667B-0E36DEAEB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5550618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7816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F4747-8636-A423-321B-2D02C99E8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sz="3700"/>
              <a:t>Implementation Challenges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E9837635-FD40-7E5E-06FF-D66D5A6F5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992196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87135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95B5C-1AE7-FA6E-E087-43841FA39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Ethical &amp; Philosophical Implications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91A302E1-8531-5AD2-4FAC-E2FC88335F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6957592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1862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E5D94-C113-E83D-170D-751260DF4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 dirty="0"/>
              <a:t>Societal Impact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4D24B494-4F5E-B0A1-125C-A637685504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249809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9674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B5C43D-4BEB-CDAA-EC2C-E4050149D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/>
              <a:t>Future Trends &amp; Recommendations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1BEFA67-C351-C942-48D2-97CA0A5F65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0286972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120291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206</TotalTime>
  <Words>573</Words>
  <Application>Microsoft Office PowerPoint</Application>
  <PresentationFormat>Widescreen</PresentationFormat>
  <Paragraphs>39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Calisto MT</vt:lpstr>
      <vt:lpstr>Univers Condensed</vt:lpstr>
      <vt:lpstr>ChronicleVTI</vt:lpstr>
      <vt:lpstr>The Future of Precision Medicine: Mayo Clinic’s AI Evolution</vt:lpstr>
      <vt:lpstr>Case Study Selection</vt:lpstr>
      <vt:lpstr>Description of the Technology</vt:lpstr>
      <vt:lpstr>Implementation</vt:lpstr>
      <vt:lpstr>Key Benefits &amp; Improvements</vt:lpstr>
      <vt:lpstr>Implementation Challenges</vt:lpstr>
      <vt:lpstr>Ethical &amp; Philosophical Implications</vt:lpstr>
      <vt:lpstr>Societal Impact</vt:lpstr>
      <vt:lpstr>Future Trends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jesus.chavezespino-W215634350</dc:creator>
  <cp:lastModifiedBy>jesus.chavezespino-W215634350</cp:lastModifiedBy>
  <cp:revision>1</cp:revision>
  <dcterms:created xsi:type="dcterms:W3CDTF">2026-02-28T16:54:14Z</dcterms:created>
  <dcterms:modified xsi:type="dcterms:W3CDTF">2026-02-28T20:21:11Z</dcterms:modified>
</cp:coreProperties>
</file>